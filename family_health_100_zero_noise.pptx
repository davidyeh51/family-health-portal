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【採用版型與風格】cover ｜ McKinsey &amp; Company</a:t>
            </a:r>
          </a:p>
          <a:p>
            <a:r>
              <a:t>① 本頁結論：本簡報全面提煉阜外醫院馮雪主任《家庭健康管理100講》核心前24講精華，貫穿生活方式醫學全維度。</a:t>
            </a:r>
          </a:p>
          <a:p>
            <a:r>
              <a:t>② 補充說明：依據前BCG顧問森秀明無雜訊簡報法，每一頁皆對應8種邏輯版型之一，並整合雙軌認知導航。</a:t>
            </a:r>
          </a:p>
          <a:p>
            <a:r>
              <a:t>③ 下一頁轉場：首先我們透過總體架構鳥瞰整個家庭健康管理體系的六大支柱。</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本頁結論：六大支柱相輔相成，構成家庭健康抵禦80%非傳染性慢病的核心防護網。</a:t>
            </a:r>
          </a:p>
          <a:p>
            <a:r>
              <a:t>② 補充說明：入門者掌握日常小行動，進階者建立生理學因果鏈路與決策邊界。</a:t>
            </a:r>
          </a:p>
          <a:p>
            <a:r>
              <a:t>③ 下一頁轉場：接下來我們逐講拆解具體的無雜訊分析與行動指南。</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3：結合論法 (Combined Tree) ｜ McKinsey &amp; Company</a:t>
            </a:r>
          </a:p>
          <a:p>
            <a:r>
              <a:t>① 本頁結論：家庭健康管理不是零碎看病，而是包含生活方式、年齡節點與醫療決策的三層金字塔。</a:t>
            </a:r>
          </a:p>
          <a:p>
            <a:r>
              <a:t>② 補充說明：80分靠日常自癒力維護，20分靠關鍵節點與重大醫療決策避險，兩者缺一不可。</a:t>
            </a:r>
          </a:p>
          <a:p>
            <a:r>
              <a:t>③ 下一頁轉場：要落實這套方案，首先必須從根本上釐清健康管理的本質，進入第001講的逆向思維。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BCG (Boston Consulting Group)</a:t>
            </a:r>
          </a:p>
          <a:p>
            <a:r>
              <a:t>① 本頁結論：體檢單沒紅字絕不代表心血管和代謝安全，很多心梗猝死患者生前體檢全部正常。</a:t>
            </a:r>
          </a:p>
          <a:p>
            <a:r>
              <a:t>② 補充說明：健康管理的精髓是逆向思維，以供需平衡為抓手，提升應對壓力的潛能儲備。</a:t>
            </a:r>
          </a:p>
          <a:p>
            <a:r>
              <a:t>③ 下一頁轉場：既然健康是動態管理出來的，日常小行動到底蘊含多大能量？我們看第002講。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4：連鎖論法 (Chain / Flow) ｜ Accenture</a:t>
            </a:r>
          </a:p>
          <a:p>
            <a:r>
              <a:t>① 本頁結論：健康是世界上最公平的事，不是靠權勢或金錢買來的，而是靠日常微小行為做出來的。</a:t>
            </a:r>
          </a:p>
          <a:p>
            <a:r>
              <a:t>② 補充說明：從認知出發，經由低門檻行動與長期時間維度的水滴石穿，最終獲得確定性健康複利。</a:t>
            </a:r>
          </a:p>
          <a:p>
            <a:r>
              <a:t>③ 下一頁轉場：在所有微行動中，性價比最高、最容易被輕視的護城河，就是第003講的洗手。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McKinsey &amp; Company</a:t>
            </a:r>
          </a:p>
          <a:p>
            <a:r>
              <a:t>① 本頁結論：洗手是性價比最高、直接阻斷八成外源病原感染的家庭健康第一道鐵閘。</a:t>
            </a:r>
          </a:p>
          <a:p>
            <a:r>
              <a:t>② 補充說明：核心在於揉搓時長必須達到20秒，且洗後必須徹底擦乾以防二次污染。</a:t>
            </a:r>
          </a:p>
          <a:p>
            <a:r>
              <a:t>③ 下一頁轉場：守住了雙手這個接觸入口，下一個每天必經且關乎全身血管的門戶就是口腔——第004講刷牙。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3：結合論法 (Combined Tree) ｜ McKinsey &amp; Company</a:t>
            </a:r>
          </a:p>
          <a:p>
            <a:r>
              <a:t>① 本頁結論：刷牙不只是保護牙齒美觀，更是阻斷慢性血管炎癥的核心手段。</a:t>
            </a:r>
          </a:p>
          <a:p>
            <a:r>
              <a:t>② 補充說明：巴氏刷牙法將刷毛對準牙齦溝，瓦解生物膜，兼具省錢與保護心血管的雙重價值。</a:t>
            </a:r>
          </a:p>
          <a:p>
            <a:r>
              <a:t>③ 下一頁轉場：有了正確的刷牙技術，手中的武器——牙刷與牙膏該如何精準挑選？看第005講。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5：麥肯錫論法 (McKinsey Matrix) ｜ McKinsey &amp; Company</a:t>
            </a:r>
          </a:p>
          <a:p>
            <a:r>
              <a:t>① 本頁結論：選牙具不必花冤枉錢，遵循小、短、中、換與含氟牙膏，就能達到頂級保護。</a:t>
            </a:r>
          </a:p>
          <a:p>
            <a:r>
              <a:t>② 補充說明：小刷頭確保無死角，中軟毛平衡清潔與保護，含氟成分是預防齲齒的唯一循證鐵律。</a:t>
            </a:r>
          </a:p>
          <a:p>
            <a:r>
              <a:t>③ 下一頁轉場：保護好微觀身體防線後，我們出門面對的外部宏觀環境——天氣與空氣，又該如何評估？看第006講。</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8：BCG 論法 (BCG 2×2 Matrix) ｜ BCG (Boston Consulting Group)</a:t>
            </a:r>
          </a:p>
          <a:p>
            <a:r>
              <a:t>① 本頁結論：PM2.5 是直接穿透肺泡入血的一類致癌物，絕不能在霧霾天進行戶外運動。</a:t>
            </a:r>
          </a:p>
          <a:p>
            <a:r>
              <a:t>② 補充說明：當指數超標時運動，通氣量暴增數倍，等於主動吸入大量毒素，必須切換為室內淨化環境。</a:t>
            </a:r>
          </a:p>
          <a:p>
            <a:r>
              <a:t>③ 下一頁轉場：避開了空氣濁氣，我們如何擁抱大自然最核心的生命能量？看第007講曬太陽。</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McKinsey &amp; Company</a:t>
            </a:r>
          </a:p>
          <a:p>
            <a:r>
              <a:t>① 本頁結論：現代人長期防曬包裹過度，日照缺乏的致死危害被嚴重低估，甚至比肩吸煙。</a:t>
            </a:r>
          </a:p>
          <a:p>
            <a:r>
              <a:t>② 補充說明：每天利用早晚斜射陽光曬15-20分鐘，能激活自體維生素D合成並校準生物節律。</a:t>
            </a:r>
          </a:p>
          <a:p>
            <a:r>
              <a:t>③ 下一頁轉場：白天接受了充足陽光校準生物鐘，夜間的修復基石——第008講睡眠，底線與天花板在哪裡？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McKinsey &amp; Company</a:t>
            </a:r>
          </a:p>
          <a:p>
            <a:r>
              <a:t>① 本頁結論：睡眠是日常所有行為中唯一沒有任何藥物或科技可以替代的終極修復手段。</a:t>
            </a:r>
          </a:p>
          <a:p>
            <a:r>
              <a:t>② 補充說明：低於6小時或高於9小時死亡率都會上升，必須鎖定7-8小時黃金區間，固定起床時間。</a:t>
            </a:r>
          </a:p>
          <a:p>
            <a:r>
              <a:t>③ 下一頁轉場：除了睡眠，人體最頻繁攝取能量與營養的日常大事就是吃飯——看第009講四格餐盤。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本頁結論：不必死板計算卡路里，掌握1/2蔬菜、1/4蛋白質、1/4慢碳水的四格餐盤比例即可。</a:t>
            </a:r>
          </a:p>
          <a:p>
            <a:r>
              <a:t>② 補充說明：三者並列搭配能顯著平緩餐後血糖，激發GLP-1飽腹信號，健康與美味兼收。</a:t>
            </a:r>
          </a:p>
          <a:p>
            <a:r>
              <a:t>③ 下一頁轉場：在飲食之外，被心臟醫學會譽為預測長壽『第五大生命體徵』的是什麼？看第010講運動。</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BCG (Boston Consulting Group)</a:t>
            </a:r>
          </a:p>
          <a:p>
            <a:r>
              <a:t>① 本頁結論：醫學界已將運動心肺能力列為第五大生命體徵，它是預測壽命長短最準確的指標。</a:t>
            </a:r>
          </a:p>
          <a:p>
            <a:r>
              <a:t>② 補充說明：不需要昂貴的私教，透過談話測試掌握中等強度，日常累積即可有效降低死亡風險。</a:t>
            </a:r>
          </a:p>
          <a:p>
            <a:r>
              <a:t>③ 下一頁轉場：了解了運動的重要性，如何為自己和家人科學定制每週運動處方？看第011講 FITT-VP 原則。</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5：麥肯錫論法 (McKinsey Matrix) ｜ McKinsey &amp; Company</a:t>
            </a:r>
          </a:p>
          <a:p>
            <a:r>
              <a:t>① 本頁結論：運動處方必須兼顧有氧心肺與抗阻力量，每週150分鐘有氧+2次抗阻是科學黃金線。</a:t>
            </a:r>
          </a:p>
          <a:p>
            <a:r>
              <a:t>② 補充說明：按FITT-VP原則靈活拆分到日常生活中，不需要一口氣完成，重在週達標。</a:t>
            </a:r>
          </a:p>
          <a:p>
            <a:r>
              <a:t>③ 下一頁轉場：在運動處方中，最容易在辦公室實施的微動作是柔韌性拉伸，看加餐 011-1 動作示範。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本頁結論：拉伸不需要特別換衣服或場地，坐在辦公桌前就能完成這套肌筋膜釋壓動作。</a:t>
            </a:r>
          </a:p>
          <a:p>
            <a:r>
              <a:t>② 補充說明：每個動作維持15-30秒，觸發高爾基腱器官反射，徹底緩解肌肉深層缺血。</a:t>
            </a:r>
          </a:p>
          <a:p>
            <a:r>
              <a:t>③ 下一頁轉場：除了肌肉疲勞，秋冬季節家庭最常見的威脅是流行感染，看加餐 011-2 如何構建雙重防線。</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3：結合論法 (Combined Tree) ｜ McKinsey &amp; Company</a:t>
            </a:r>
          </a:p>
          <a:p>
            <a:r>
              <a:t>① 本頁結論：秋冬感染集中爆發並非個體免疫崩潰，而是群體免疫債與低溫環境共同作用的結果。</a:t>
            </a:r>
          </a:p>
          <a:p>
            <a:r>
              <a:t>② 補充說明：及時接種流感疫苗加強內在主動免疫，每天開窗換氣稀釋病毒，是保護全家最硬核的手段。</a:t>
            </a:r>
          </a:p>
          <a:p>
            <a:r>
              <a:t>③ 下一頁轉場：在營養防線方面，我們每天一日三餐最核心的一條鐵律到底是什麼？看第012講飲食底線。</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BCG (Boston Consulting Group)</a:t>
            </a:r>
          </a:p>
          <a:p>
            <a:r>
              <a:t>① 本頁結論：飲食最重要、最不打擾生活的底線只有兩個字：天然。吃看得出原本形狀的食物。</a:t>
            </a:r>
          </a:p>
          <a:p>
            <a:r>
              <a:t>② 補充說明：超加工食品被設計為精準劫持大腦多巴胺，讓人不由自主多吃500大卡，回歸原型是最高級的自律。</a:t>
            </a:r>
          </a:p>
          <a:p>
            <a:r>
              <a:t>③ 下一頁轉場：除了吃什麼，日常生活中唯一能主動調節自律神經與心血管狀態的生理掛擋法是什麼？看第013講深慢呼吸。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McKinsey &amp; Company</a:t>
            </a:r>
          </a:p>
          <a:p>
            <a:r>
              <a:t>① 本頁結論：深慢呼吸是人體唯一可以主動切換副交感神經的生理開關，沒有任何藥物比它更快更安全。</a:t>
            </a:r>
          </a:p>
          <a:p>
            <a:r>
              <a:t>② 補充說明：吸氣4秒、呼氣6秒，把頻率降到每分鐘6次，能達到心率變異度共振峰值，迅速降血壓降心率。</a:t>
            </a:r>
          </a:p>
          <a:p>
            <a:r>
              <a:t>③ 下一頁轉場：學會了神經系統的減壓修復，在營養能量代謝維度，近年最火熱的抗衰武器是什麼？看第014講輕斷食。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4：連鎖論法 (Chain / Flow) ｜ Accenture</a:t>
            </a:r>
          </a:p>
          <a:p>
            <a:r>
              <a:t>① 本頁結論：輕斷食的終極價值不是減重，而是給細胞啟動『自噬垃圾清理』的時間窗口。</a:t>
            </a:r>
          </a:p>
          <a:p>
            <a:r>
              <a:t>② 補充說明：8小時內吃完三餐，16小時禁食，能平穩耗盡糖原並喚醒AMPK通路，實現深層抗衰。</a:t>
            </a:r>
          </a:p>
          <a:p>
            <a:r>
              <a:t>③ 下一頁轉場：了解了進食窗口的自律，日常飲水到底有沒有硬性指標？真的必須喝八杯水嗎？看第015講。</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7：比較論法 (Comparison) ｜ McKinsey &amp; Company</a:t>
            </a:r>
          </a:p>
          <a:p>
            <a:r>
              <a:t>① 本頁結論：不要等到口渴才喝水，口渴時身體已經脫水2%；最客觀的指針是看尿液是否為淺黃色。</a:t>
            </a:r>
          </a:p>
          <a:p>
            <a:r>
              <a:t>② 補充說明：每天純水攝入1000-1500毫升即可，不必教條化套用八杯水，多觀察排泄顏色反饋。</a:t>
            </a:r>
          </a:p>
          <a:p>
            <a:r>
              <a:t>③ 下一頁轉場：弄清楚了喝多少水，水質、水種與水溫又藏著哪些攸關癌症的致命陷阱？看第016講。</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BCG (Boston Consulting Group)</a:t>
            </a:r>
          </a:p>
          <a:p>
            <a:r>
              <a:t>① 本頁結論：水溫是喝水唯一的死線：絕不能超過65度，這是世衛組織確認的食道癌風險因素。</a:t>
            </a:r>
          </a:p>
          <a:p>
            <a:r>
              <a:t>② 補充說明：超市裡的弱鹼水、富氫水都是行銷噱頭，進到胃裡瞬間被胃酸中和，普通白水和淡茶最好。</a:t>
            </a:r>
          </a:p>
          <a:p>
            <a:r>
              <a:t>③ 下一頁轉場：從體內水環境回歸到人體最外層的保護外衣——皮膚屏障，看第017講正確洗臉護膚。</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3：結合論法 (Combined Tree) ｜ McKinsey &amp; Company</a:t>
            </a:r>
          </a:p>
          <a:p>
            <a:r>
              <a:t>① 本頁結論：護膚最重要的不是擦昂貴精華液，而是不要在洗臉時親手把皮膚屏障洗壞。</a:t>
            </a:r>
          </a:p>
          <a:p>
            <a:r>
              <a:t>② 補充說明：角質細胞是磚，神經醯胺是水泥，皮脂膜是油漆，過度洗臉會把水泥油漆全衝垮。</a:t>
            </a:r>
          </a:p>
          <a:p>
            <a:r>
              <a:t>③ 下一頁轉場：保護好皮膚後，我們回到最基礎、對心血管和血糖最友好的日常運動——看第018講快走。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BCG (Boston Consulting Group)</a:t>
            </a:r>
          </a:p>
          <a:p>
            <a:r>
              <a:t>① 本頁結論：快走是最安全的全身運動，成年人每天走8000步、老人7500步收益最大，不必迷信一萬步。</a:t>
            </a:r>
          </a:p>
          <a:p>
            <a:r>
              <a:t>② 補充說明：關節軟骨沒有血管，正是靠快走的規律受壓像海綿吸水一樣吸收關節液，不走反而容易關節退化。</a:t>
            </a:r>
          </a:p>
          <a:p>
            <a:r>
              <a:t>③ 下一頁轉場：然而，哪怕每天快走8000步，如果白天連續坐著不動，依然會遭遇什麼致命陷阱？看第019講避免久坐。</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8：BCG 論法 (BCG 2×2 Matrix) ｜ Accenture</a:t>
            </a:r>
          </a:p>
          <a:p>
            <a:r>
              <a:t>① 本頁結論：久坐是獨立的致病因素，任何晚上的劇烈運動都無法洗刷白天坐10小時帶來的代謝傷害。</a:t>
            </a:r>
          </a:p>
          <a:p>
            <a:r>
              <a:t>② 補充說明：連續坐90分鐘，下肢脂蛋白脂肪酶活性下降90%，每90分鐘站起來動5分鐘能立即重啟代謝。</a:t>
            </a:r>
          </a:p>
          <a:p>
            <a:r>
              <a:t>③ 下一頁轉場：在工位上站起來後，有哪些簡單3分鐘動作能徹底告別久坐僵硬？看加餐 019-1。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本頁結論：在工位上踮起腳尖做比目魚肌提踵，就是在給人體的第二心臟手動打氣泵血。</a:t>
            </a:r>
          </a:p>
          <a:p>
            <a:r>
              <a:t>② 補充說明：搭配伸展髂腰肌與夾緊肩胛骨，3分鐘即可逆轉久坐引發的靜脈瘀血與骨盆前傾。</a:t>
            </a:r>
          </a:p>
          <a:p>
            <a:r>
              <a:t>③ 下一頁轉場：度過了充實的一天，在午休時間，如何打個高效率的小盹而不至於越睡越困？看第020講午睡。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7：比較論法 (Comparison) ｜ McKinsey &amp; Company</a:t>
            </a:r>
          </a:p>
          <a:p>
            <a:r>
              <a:t>① 本頁結論：午睡是低成本高回報的健康投資，但死線是不能超過20-30分鐘。</a:t>
            </a:r>
          </a:p>
          <a:p>
            <a:r>
              <a:t>② 補充說明：20分鐘剛好清空大腦腺苷垃圾，超過30分鐘跌入深睡眠，醒來會遭遇睡眠慣性，越睡越懵。</a:t>
            </a:r>
          </a:p>
          <a:p>
            <a:r>
              <a:t>③ 下一頁轉場：至此，我們完成了家庭健康前24講的精準知識萃取，涵蓋生活方式六大核心支柱。</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1463040"/>
            <a:ext cx="16459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058400" cy="457200"/>
          </a:xfrm>
          <a:prstGeom prst="rect">
            <a:avLst/>
          </a:prstGeom>
          <a:noFill/>
        </p:spPr>
        <p:txBody>
          <a:bodyPr wrap="none">
            <a:spAutoFit/>
          </a:bodyPr>
          <a:lstStyle/>
          <a:p>
            <a:pPr>
              <a:defRPr sz="1300" b="1">
                <a:solidFill>
                  <a:srgbClr val="D97706"/>
                </a:solidFill>
              </a:defRPr>
            </a:pPr>
            <a:r>
              <a:t>ZERO-NOISE CONSULTING PRESENTATION  |  McKinsey × BCG × Accenture</a:t>
            </a:r>
          </a:p>
        </p:txBody>
      </p:sp>
      <p:sp>
        <p:nvSpPr>
          <p:cNvPr id="5" name="TextBox 4"/>
          <p:cNvSpPr txBox="1"/>
          <p:nvPr/>
        </p:nvSpPr>
        <p:spPr>
          <a:xfrm>
            <a:off x="1005840" y="2194560"/>
            <a:ext cx="10058400" cy="1463040"/>
          </a:xfrm>
          <a:prstGeom prst="rect">
            <a:avLst/>
          </a:prstGeom>
          <a:noFill/>
        </p:spPr>
        <p:txBody>
          <a:bodyPr wrap="square">
            <a:spAutoFit/>
          </a:bodyPr>
          <a:lstStyle/>
          <a:p>
            <a:pPr>
              <a:defRPr sz="3400" b="1">
                <a:solidFill>
                  <a:srgbClr val="FFFFFF"/>
                </a:solidFill>
              </a:defRPr>
            </a:pPr>
            <a:r>
              <a:t>家庭健康管理 100 講：核心精華導讀簡報</a:t>
            </a:r>
          </a:p>
        </p:txBody>
      </p:sp>
      <p:sp>
        <p:nvSpPr>
          <p:cNvPr id="6" name="TextBox 5"/>
          <p:cNvSpPr txBox="1"/>
          <p:nvPr/>
        </p:nvSpPr>
        <p:spPr>
          <a:xfrm>
            <a:off x="1005840" y="3840480"/>
            <a:ext cx="10058400" cy="1097280"/>
          </a:xfrm>
          <a:prstGeom prst="rect">
            <a:avLst/>
          </a:prstGeom>
          <a:noFill/>
        </p:spPr>
        <p:txBody>
          <a:bodyPr wrap="square">
            <a:spAutoFit/>
          </a:bodyPr>
          <a:lstStyle/>
          <a:p>
            <a:pPr>
              <a:defRPr sz="1800">
                <a:solidFill>
                  <a:srgbClr val="E2E8F0"/>
                </a:solidFill>
              </a:defRPr>
            </a:pPr>
            <a:r>
              <a:t>核心主張：形式對應邏輯：以頂尖生活方式醫學（Lifestyle Medicine）為基石，建立「入門 3 秒行動指南」與「進階生理決策模型」雙軌家庭防禦體系。</a:t>
            </a:r>
          </a:p>
        </p:txBody>
      </p:sp>
      <p:sp>
        <p:nvSpPr>
          <p:cNvPr id="7" name="TextBox 6"/>
          <p:cNvSpPr txBox="1"/>
          <p:nvPr/>
        </p:nvSpPr>
        <p:spPr>
          <a:xfrm>
            <a:off x="1005840" y="5394960"/>
            <a:ext cx="10058400" cy="457200"/>
          </a:xfrm>
          <a:prstGeom prst="rect">
            <a:avLst/>
          </a:prstGeom>
          <a:noFill/>
        </p:spPr>
        <p:txBody>
          <a:bodyPr wrap="none">
            <a:spAutoFit/>
          </a:bodyPr>
          <a:lstStyle/>
          <a:p>
            <a:pPr>
              <a:defRPr sz="1250">
                <a:solidFill>
                  <a:srgbClr val="BAC4D2"/>
                </a:solidFill>
              </a:defRPr>
            </a:pPr>
            <a:r>
              <a:t>主講人：馮雪（中國醫學科學院阜外醫院） ｜ 顧問分析：Zero-Noise Consulting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體系總覽  ｜  版型 2：並列論法 (Parallel)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2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主張：家庭健康防禦體系由六大生活方式支柱平行支撐，形成全因慢病一級預防閉環</a:t>
            </a:r>
          </a:p>
          <a:p>
            <a:pPr>
              <a:defRPr sz="1250">
                <a:solidFill>
                  <a:srgbClr val="64748B"/>
                </a:solidFill>
              </a:defRPr>
            </a:pPr>
            <a:r>
              <a:t>覆蓋底層認知、物理屏障、晝夜修復、營養代謝、運動抗座與自律神經調控</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馮雪·家庭健康管理100講 知識萃取總體模型 ｜ Accenture Bento Grid Style</a:t>
            </a:r>
          </a:p>
        </p:txBody>
      </p:sp>
      <p:sp>
        <p:nvSpPr>
          <p:cNvPr id="7" name="Rounded Rectangle 6"/>
          <p:cNvSpPr/>
          <p:nvPr/>
        </p:nvSpPr>
        <p:spPr>
          <a:xfrm>
            <a:off x="731520"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支柱 1–2：認知與屏障</a:t>
            </a:r>
          </a:p>
        </p:txBody>
      </p:sp>
      <p:sp>
        <p:nvSpPr>
          <p:cNvPr id="9" name="TextBox 8"/>
          <p:cNvSpPr txBox="1"/>
          <p:nvPr/>
        </p:nvSpPr>
        <p:spPr>
          <a:xfrm>
            <a:off x="914400" y="2514600"/>
            <a:ext cx="3027578" cy="3520440"/>
          </a:xfrm>
          <a:prstGeom prst="rect">
            <a:avLst/>
          </a:prstGeom>
          <a:noFill/>
        </p:spPr>
        <p:txBody>
          <a:bodyPr wrap="square">
            <a:spAutoFit/>
          </a:bodyPr>
          <a:lstStyle/>
          <a:p>
            <a:pPr>
              <a:spcAft>
                <a:spcPts val="600"/>
              </a:spcAft>
              <a:defRPr sz="1250">
                <a:solidFill>
                  <a:srgbClr val="0F172A"/>
                </a:solidFill>
              </a:defRPr>
            </a:pPr>
            <a:r>
              <a:t>1. • 逆向思維：健康是供需平衡，非體檢箭頭</a:t>
            </a:r>
          </a:p>
          <a:p>
            <a:pPr>
              <a:spcAft>
                <a:spcPts val="600"/>
              </a:spcAft>
              <a:defRPr sz="1250">
                <a:solidFill>
                  <a:srgbClr val="0F172A"/>
                </a:solidFill>
              </a:defRPr>
            </a:pPr>
            <a:r>
              <a:t>2. • 行為複利：微習慣日積月累激活內在自癒力</a:t>
            </a:r>
          </a:p>
          <a:p>
            <a:pPr>
              <a:spcAft>
                <a:spcPts val="600"/>
              </a:spcAft>
              <a:defRPr sz="1250">
                <a:solidFill>
                  <a:srgbClr val="0F172A"/>
                </a:solidFill>
              </a:defRPr>
            </a:pPr>
            <a:r>
              <a:t>3. • 物理阻斷：洗手、刷牙、防霧霾、保護皮膚屏障</a:t>
            </a:r>
          </a:p>
        </p:txBody>
      </p:sp>
      <p:sp>
        <p:nvSpPr>
          <p:cNvPr id="10" name="Rounded Rectangle 9"/>
          <p:cNvSpPr/>
          <p:nvPr/>
        </p:nvSpPr>
        <p:spPr>
          <a:xfrm>
            <a:off x="4399178"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874519"/>
            <a:ext cx="3393338"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支柱 3–4：修復與代謝</a:t>
            </a:r>
          </a:p>
        </p:txBody>
      </p:sp>
      <p:sp>
        <p:nvSpPr>
          <p:cNvPr id="12" name="TextBox 11"/>
          <p:cNvSpPr txBox="1"/>
          <p:nvPr/>
        </p:nvSpPr>
        <p:spPr>
          <a:xfrm>
            <a:off x="4582058" y="2514600"/>
            <a:ext cx="3027578" cy="3520440"/>
          </a:xfrm>
          <a:prstGeom prst="rect">
            <a:avLst/>
          </a:prstGeom>
          <a:noFill/>
        </p:spPr>
        <p:txBody>
          <a:bodyPr wrap="square">
            <a:spAutoFit/>
          </a:bodyPr>
          <a:lstStyle/>
          <a:p>
            <a:pPr>
              <a:spcAft>
                <a:spcPts val="600"/>
              </a:spcAft>
              <a:defRPr sz="1250">
                <a:solidFill>
                  <a:srgbClr val="0F172A"/>
                </a:solidFill>
              </a:defRPr>
            </a:pPr>
            <a:r>
              <a:t>1. • 節律修復：曬太陽合維D，睡眠7–8h類淋巴排毒</a:t>
            </a:r>
          </a:p>
          <a:p>
            <a:pPr>
              <a:spcAft>
                <a:spcPts val="600"/>
              </a:spcAft>
              <a:defRPr sz="1250">
                <a:solidFill>
                  <a:srgbClr val="0F172A"/>
                </a:solidFill>
              </a:defRPr>
            </a:pPr>
            <a:r>
              <a:t>2. • 高效小憩：15–20分鐘微午睡清空大腦腺苷</a:t>
            </a:r>
          </a:p>
          <a:p>
            <a:pPr>
              <a:spcAft>
                <a:spcPts val="600"/>
              </a:spcAft>
              <a:defRPr sz="1250">
                <a:solidFill>
                  <a:srgbClr val="0F172A"/>
                </a:solidFill>
              </a:defRPr>
            </a:pPr>
            <a:r>
              <a:t>3. • 精準營養：四格餐盤、原型天然、16:8輕斷食</a:t>
            </a:r>
          </a:p>
        </p:txBody>
      </p:sp>
      <p:sp>
        <p:nvSpPr>
          <p:cNvPr id="13" name="Rounded Rectangle 12"/>
          <p:cNvSpPr/>
          <p:nvPr/>
        </p:nvSpPr>
        <p:spPr>
          <a:xfrm>
            <a:off x="8066836"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支柱 5–6：運動與神經</a:t>
            </a:r>
          </a:p>
        </p:txBody>
      </p:sp>
      <p:sp>
        <p:nvSpPr>
          <p:cNvPr id="15" name="TextBox 14"/>
          <p:cNvSpPr txBox="1"/>
          <p:nvPr/>
        </p:nvSpPr>
        <p:spPr>
          <a:xfrm>
            <a:off x="8249716" y="2514600"/>
            <a:ext cx="3027578" cy="3520440"/>
          </a:xfrm>
          <a:prstGeom prst="rect">
            <a:avLst/>
          </a:prstGeom>
          <a:noFill/>
        </p:spPr>
        <p:txBody>
          <a:bodyPr wrap="square">
            <a:spAutoFit/>
          </a:bodyPr>
          <a:lstStyle/>
          <a:p>
            <a:pPr>
              <a:spcAft>
                <a:spcPts val="600"/>
              </a:spcAft>
              <a:defRPr sz="1250">
                <a:solidFill>
                  <a:srgbClr val="0F172A"/>
                </a:solidFill>
              </a:defRPr>
            </a:pPr>
            <a:r>
              <a:t>1. • 生命體徵：心肺耐力提升1 MET降低15%死亡率</a:t>
            </a:r>
          </a:p>
          <a:p>
            <a:pPr>
              <a:spcAft>
                <a:spcPts val="600"/>
              </a:spcAft>
              <a:defRPr sz="1250">
                <a:solidFill>
                  <a:srgbClr val="0F172A"/>
                </a:solidFill>
              </a:defRPr>
            </a:pPr>
            <a:r>
              <a:t>2. • 告別久坐：每90min站立重啟脂蛋白脂肪酶LPL</a:t>
            </a:r>
          </a:p>
          <a:p>
            <a:pPr>
              <a:spcAft>
                <a:spcPts val="600"/>
              </a:spcAft>
              <a:defRPr sz="1250">
                <a:solidFill>
                  <a:srgbClr val="0F172A"/>
                </a:solidFill>
              </a:defRPr>
            </a:pPr>
            <a:r>
              <a:t>3. • 副交感呼吸：每分6次深慢呼吸即時掛擋鎮靜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健康底層思維與行為設計  |  第 000 講  ｜  版型 3：結合論法 (Combined Tree)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3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主張：家庭健康 100 分需由「80分生活方式基石＋10分全週期節點＋10分醫療精準決策」三層架構共同構建</a:t>
            </a:r>
          </a:p>
          <a:p>
            <a:pPr>
              <a:defRPr sz="1250">
                <a:solidFill>
                  <a:srgbClr val="64748B"/>
                </a:solidFill>
              </a:defRPr>
            </a:pPr>
            <a:r>
              <a:t>以頂尖生活方式醫學為依歸，兼顧日常自癒力激活與重大醫療決策避險</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馮雪《家庭健康管理100講》發刊詞 ｜ 阜外醫院生活方式醫學中心臨床體系</a:t>
            </a:r>
          </a:p>
        </p:txBody>
      </p:sp>
      <p:sp>
        <p:nvSpPr>
          <p:cNvPr id="7" name="Rounded Rectangle 6"/>
          <p:cNvSpPr/>
          <p:nvPr/>
        </p:nvSpPr>
        <p:spPr>
          <a:xfrm>
            <a:off x="2011680" y="1783080"/>
            <a:ext cx="8138160" cy="731520"/>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 最終目標：構建永續抗風險的「家庭健康 100 分」綜合防護網</a:t>
            </a:r>
          </a:p>
        </p:txBody>
      </p:sp>
      <p:sp>
        <p:nvSpPr>
          <p:cNvPr id="8" name="Rounded Rectangle 7"/>
          <p:cNvSpPr/>
          <p:nvPr/>
        </p:nvSpPr>
        <p:spPr>
          <a:xfrm>
            <a:off x="73152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A：80 分 日常生活方式防禦盤</a:t>
            </a:r>
          </a:p>
        </p:txBody>
      </p:sp>
      <p:sp>
        <p:nvSpPr>
          <p:cNvPr id="9" name="Rounded Rectangle 8"/>
          <p:cNvSpPr/>
          <p:nvPr/>
        </p:nvSpPr>
        <p:spPr>
          <a:xfrm>
            <a:off x="731520"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1456944" cy="2103120"/>
          </a:xfrm>
          <a:prstGeom prst="rect">
            <a:avLst/>
          </a:prstGeom>
          <a:noFill/>
        </p:spPr>
        <p:txBody>
          <a:bodyPr wrap="square">
            <a:spAutoFit/>
          </a:bodyPr>
          <a:lstStyle/>
          <a:p>
            <a:pPr>
              <a:defRPr sz="1150">
                <a:solidFill>
                  <a:srgbClr val="1F2937"/>
                </a:solidFill>
              </a:defRPr>
            </a:pPr>
            <a:r>
              <a:t>• 每日必做微習慣：飲食四格餐盤、睡眠 7–8 小時、科學補水</a:t>
            </a:r>
          </a:p>
        </p:txBody>
      </p:sp>
      <p:sp>
        <p:nvSpPr>
          <p:cNvPr id="11" name="Rounded Rectangle 10"/>
          <p:cNvSpPr/>
          <p:nvPr/>
        </p:nvSpPr>
        <p:spPr>
          <a:xfrm>
            <a:off x="2508504"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9944" y="3931920"/>
            <a:ext cx="1456944" cy="2103120"/>
          </a:xfrm>
          <a:prstGeom prst="rect">
            <a:avLst/>
          </a:prstGeom>
          <a:noFill/>
        </p:spPr>
        <p:txBody>
          <a:bodyPr wrap="square">
            <a:spAutoFit/>
          </a:bodyPr>
          <a:lstStyle/>
          <a:p>
            <a:pPr>
              <a:defRPr sz="1150">
                <a:solidFill>
                  <a:srgbClr val="1F2937"/>
                </a:solidFill>
              </a:defRPr>
            </a:pPr>
            <a:r>
              <a:t>• 應急避險工具：熬夜、應酬、伏案後的生理損害對沖機制</a:t>
            </a:r>
          </a:p>
        </p:txBody>
      </p:sp>
      <p:sp>
        <p:nvSpPr>
          <p:cNvPr id="13" name="Rounded Rectangle 12"/>
          <p:cNvSpPr/>
          <p:nvPr/>
        </p:nvSpPr>
        <p:spPr>
          <a:xfrm>
            <a:off x="4285488"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6928" y="3931920"/>
            <a:ext cx="1456944" cy="2103120"/>
          </a:xfrm>
          <a:prstGeom prst="rect">
            <a:avLst/>
          </a:prstGeom>
          <a:noFill/>
        </p:spPr>
        <p:txBody>
          <a:bodyPr wrap="square">
            <a:spAutoFit/>
          </a:bodyPr>
          <a:lstStyle/>
          <a:p>
            <a:pPr>
              <a:defRPr sz="1150">
                <a:solidFill>
                  <a:srgbClr val="1F2937"/>
                </a:solidFill>
              </a:defRPr>
            </a:pPr>
            <a:r>
              <a:t>• 人性化平衡：保留美食與社交樂趣，非極端自律</a:t>
            </a:r>
          </a:p>
        </p:txBody>
      </p:sp>
      <p:sp>
        <p:nvSpPr>
          <p:cNvPr id="15" name="Rounded Rectangle 14"/>
          <p:cNvSpPr/>
          <p:nvPr/>
        </p:nvSpPr>
        <p:spPr>
          <a:xfrm>
            <a:off x="626364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B：20 分 關鍵節點與醫療場景掌控</a:t>
            </a:r>
          </a:p>
        </p:txBody>
      </p:sp>
      <p:sp>
        <p:nvSpPr>
          <p:cNvPr id="16" name="Rounded Rectangle 15"/>
          <p:cNvSpPr/>
          <p:nvPr/>
        </p:nvSpPr>
        <p:spPr>
          <a:xfrm>
            <a:off x="6263640"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931920"/>
            <a:ext cx="1456944" cy="2103120"/>
          </a:xfrm>
          <a:prstGeom prst="rect">
            <a:avLst/>
          </a:prstGeom>
          <a:noFill/>
        </p:spPr>
        <p:txBody>
          <a:bodyPr wrap="square">
            <a:spAutoFit/>
          </a:bodyPr>
          <a:lstStyle/>
          <a:p>
            <a:pPr>
              <a:defRPr sz="1150">
                <a:solidFill>
                  <a:srgbClr val="1F2937"/>
                </a:solidFill>
              </a:defRPr>
            </a:pPr>
            <a:r>
              <a:t>• 10分 生命全週期：長輩慢病辨識、兒童習慣養成、中年抗衰</a:t>
            </a:r>
          </a:p>
        </p:txBody>
      </p:sp>
      <p:sp>
        <p:nvSpPr>
          <p:cNvPr id="18" name="Rounded Rectangle 17"/>
          <p:cNvSpPr/>
          <p:nvPr/>
        </p:nvSpPr>
        <p:spPr>
          <a:xfrm>
            <a:off x="8040624"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2063" y="3931920"/>
            <a:ext cx="1456944" cy="2103120"/>
          </a:xfrm>
          <a:prstGeom prst="rect">
            <a:avLst/>
          </a:prstGeom>
          <a:noFill/>
        </p:spPr>
        <p:txBody>
          <a:bodyPr wrap="square">
            <a:spAutoFit/>
          </a:bodyPr>
          <a:lstStyle/>
          <a:p>
            <a:pPr>
              <a:defRPr sz="1150">
                <a:solidFill>
                  <a:srgbClr val="1F2937"/>
                </a:solidFill>
              </a:defRPr>
            </a:pPr>
            <a:r>
              <a:t>• 10分 醫療精準決策：急診判斷、專家掛號、手術知情同意避險</a:t>
            </a:r>
          </a:p>
        </p:txBody>
      </p:sp>
      <p:sp>
        <p:nvSpPr>
          <p:cNvPr id="20" name="Rounded Rectangle 19"/>
          <p:cNvSpPr/>
          <p:nvPr/>
        </p:nvSpPr>
        <p:spPr>
          <a:xfrm>
            <a:off x="9817608"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9048" y="3931920"/>
            <a:ext cx="1456944" cy="2103120"/>
          </a:xfrm>
          <a:prstGeom prst="rect">
            <a:avLst/>
          </a:prstGeom>
          <a:noFill/>
        </p:spPr>
        <p:txBody>
          <a:bodyPr wrap="square">
            <a:spAutoFit/>
          </a:bodyPr>
          <a:lstStyle/>
          <a:p>
            <a:pPr>
              <a:defRPr sz="1150">
                <a:solidFill>
                  <a:srgbClr val="1F2937"/>
                </a:solidFill>
              </a:defRPr>
            </a:pPr>
            <a:r>
              <a:t>• 醫生視角賦能：在重大突發醫療事件中掌握主動權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健康底層思維與行為設計  |  第 001 講  ｜  版型 6：對立論法 (Opposition)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4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① 主張：健康管理本質是維持身心機能的「供需平衡」，而非依賴體檢箭頭的被動疾病管理</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Source: WHO 憲章健康定義 ｜ 馮雪·家庭健康管理100講 第001講</a:t>
            </a:r>
          </a:p>
        </p:txBody>
      </p:sp>
      <p:sp>
        <p:nvSpPr>
          <p:cNvPr id="7" name="Rectangle 6"/>
          <p:cNvSpPr/>
          <p:nvPr/>
        </p:nvSpPr>
        <p:spPr>
          <a:xfrm>
            <a:off x="2651760" y="1828800"/>
            <a:ext cx="4297680" cy="502920"/>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傳統疾病管理（看病思維）</a:t>
            </a:r>
          </a:p>
        </p:txBody>
      </p:sp>
      <p:sp>
        <p:nvSpPr>
          <p:cNvPr id="8" name="Rectangle 7"/>
          <p:cNvSpPr/>
          <p:nvPr/>
        </p:nvSpPr>
        <p:spPr>
          <a:xfrm>
            <a:off x="7132320" y="1828800"/>
            <a:ext cx="4297680" cy="50292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現代健康管理（生活方式醫學） ★</a:t>
            </a:r>
          </a:p>
        </p:txBody>
      </p:sp>
      <p:sp>
        <p:nvSpPr>
          <p:cNvPr id="9" name="Oval 8"/>
          <p:cNvSpPr/>
          <p:nvPr/>
        </p:nvSpPr>
        <p:spPr>
          <a:xfrm>
            <a:off x="731520" y="2468880"/>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思維模式</a:t>
            </a:r>
          </a:p>
        </p:txBody>
      </p:sp>
      <p:sp>
        <p:nvSpPr>
          <p:cNvPr id="10" name="Rounded Rectangle 9"/>
          <p:cNvSpPr/>
          <p:nvPr/>
        </p:nvSpPr>
        <p:spPr>
          <a:xfrm>
            <a:off x="2651760" y="2468880"/>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42032"/>
            <a:ext cx="4023360" cy="722375"/>
          </a:xfrm>
          <a:prstGeom prst="rect">
            <a:avLst/>
          </a:prstGeom>
          <a:noFill/>
        </p:spPr>
        <p:txBody>
          <a:bodyPr wrap="square">
            <a:spAutoFit/>
          </a:bodyPr>
          <a:lstStyle/>
          <a:p>
            <a:pPr>
              <a:defRPr sz="1200">
                <a:solidFill>
                  <a:srgbClr val="1F2937"/>
                </a:solidFill>
              </a:defRPr>
            </a:pPr>
            <a:r>
              <a:t>正向思維：出現症狀 ➔ 尋找診斷 ➔ 消除病灶</a:t>
            </a:r>
          </a:p>
        </p:txBody>
      </p:sp>
      <p:sp>
        <p:nvSpPr>
          <p:cNvPr id="12" name="Rounded Rectangle 11"/>
          <p:cNvSpPr/>
          <p:nvPr/>
        </p:nvSpPr>
        <p:spPr>
          <a:xfrm>
            <a:off x="7132320" y="2468880"/>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542032"/>
            <a:ext cx="4023360" cy="722375"/>
          </a:xfrm>
          <a:prstGeom prst="rect">
            <a:avLst/>
          </a:prstGeom>
          <a:noFill/>
        </p:spPr>
        <p:txBody>
          <a:bodyPr wrap="square">
            <a:spAutoFit/>
          </a:bodyPr>
          <a:lstStyle/>
          <a:p>
            <a:pPr>
              <a:defRPr sz="1200">
                <a:solidFill>
                  <a:srgbClr val="1F2937"/>
                </a:solidFill>
              </a:defRPr>
            </a:pPr>
            <a:r>
              <a:t>逆向思維：依循生理規律 ➔ 預防未然 ➔ 儲備機能</a:t>
            </a:r>
          </a:p>
        </p:txBody>
      </p:sp>
      <p:sp>
        <p:nvSpPr>
          <p:cNvPr id="14" name="Oval 13"/>
          <p:cNvSpPr/>
          <p:nvPr/>
        </p:nvSpPr>
        <p:spPr>
          <a:xfrm>
            <a:off x="731520" y="3447288"/>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目標導向</a:t>
            </a:r>
          </a:p>
        </p:txBody>
      </p:sp>
      <p:sp>
        <p:nvSpPr>
          <p:cNvPr id="15" name="Rounded Rectangle 14"/>
          <p:cNvSpPr/>
          <p:nvPr/>
        </p:nvSpPr>
        <p:spPr>
          <a:xfrm>
            <a:off x="2651760" y="3447288"/>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20440"/>
            <a:ext cx="4023360" cy="722375"/>
          </a:xfrm>
          <a:prstGeom prst="rect">
            <a:avLst/>
          </a:prstGeom>
          <a:noFill/>
        </p:spPr>
        <p:txBody>
          <a:bodyPr wrap="square">
            <a:spAutoFit/>
          </a:bodyPr>
          <a:lstStyle/>
          <a:p>
            <a:pPr>
              <a:defRPr sz="1200">
                <a:solidFill>
                  <a:srgbClr val="1F2937"/>
                </a:solidFill>
              </a:defRPr>
            </a:pPr>
            <a:r>
              <a:t>結果導向：指標恢復常態，解決已存在的臨床問題</a:t>
            </a:r>
          </a:p>
        </p:txBody>
      </p:sp>
      <p:sp>
        <p:nvSpPr>
          <p:cNvPr id="17" name="Rounded Rectangle 16"/>
          <p:cNvSpPr/>
          <p:nvPr/>
        </p:nvSpPr>
        <p:spPr>
          <a:xfrm>
            <a:off x="7132320" y="3447288"/>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3520440"/>
            <a:ext cx="4023360" cy="722375"/>
          </a:xfrm>
          <a:prstGeom prst="rect">
            <a:avLst/>
          </a:prstGeom>
          <a:noFill/>
        </p:spPr>
        <p:txBody>
          <a:bodyPr wrap="square">
            <a:spAutoFit/>
          </a:bodyPr>
          <a:lstStyle/>
          <a:p>
            <a:pPr>
              <a:defRPr sz="1200">
                <a:solidFill>
                  <a:srgbClr val="1F2937"/>
                </a:solidFill>
              </a:defRPr>
            </a:pPr>
            <a:r>
              <a:t>狀態導向：維持機能與工作/家庭需求的動態平衡</a:t>
            </a:r>
          </a:p>
        </p:txBody>
      </p:sp>
      <p:sp>
        <p:nvSpPr>
          <p:cNvPr id="19" name="Oval 18"/>
          <p:cNvSpPr/>
          <p:nvPr/>
        </p:nvSpPr>
        <p:spPr>
          <a:xfrm>
            <a:off x="731520" y="4425696"/>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評價標準</a:t>
            </a:r>
          </a:p>
        </p:txBody>
      </p:sp>
      <p:sp>
        <p:nvSpPr>
          <p:cNvPr id="20" name="Rounded Rectangle 19"/>
          <p:cNvSpPr/>
          <p:nvPr/>
        </p:nvSpPr>
        <p:spPr>
          <a:xfrm>
            <a:off x="2651760" y="4425696"/>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498848"/>
            <a:ext cx="4023360" cy="722375"/>
          </a:xfrm>
          <a:prstGeom prst="rect">
            <a:avLst/>
          </a:prstGeom>
          <a:noFill/>
        </p:spPr>
        <p:txBody>
          <a:bodyPr wrap="square">
            <a:spAutoFit/>
          </a:bodyPr>
          <a:lstStyle/>
          <a:p>
            <a:pPr>
              <a:defRPr sz="1200">
                <a:solidFill>
                  <a:srgbClr val="1F2937"/>
                </a:solidFill>
              </a:defRPr>
            </a:pPr>
            <a:r>
              <a:t>靜態臨床化驗單（體檢報告是否有紅字箭頭）</a:t>
            </a:r>
          </a:p>
        </p:txBody>
      </p:sp>
      <p:sp>
        <p:nvSpPr>
          <p:cNvPr id="22" name="Rounded Rectangle 21"/>
          <p:cNvSpPr/>
          <p:nvPr/>
        </p:nvSpPr>
        <p:spPr>
          <a:xfrm>
            <a:off x="7132320" y="4425696"/>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4498848"/>
            <a:ext cx="4023360" cy="722375"/>
          </a:xfrm>
          <a:prstGeom prst="rect">
            <a:avLst/>
          </a:prstGeom>
          <a:noFill/>
        </p:spPr>
        <p:txBody>
          <a:bodyPr wrap="square">
            <a:spAutoFit/>
          </a:bodyPr>
          <a:lstStyle/>
          <a:p>
            <a:pPr>
              <a:defRPr sz="1200">
                <a:solidFill>
                  <a:srgbClr val="1F2937"/>
                </a:solidFill>
              </a:defRPr>
            </a:pPr>
            <a:r>
              <a:t>個人主觀體驗＋應對生活壓力與危機的潛能儲備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健康底層思維與行為設計  |  第 002 講  ｜  版型 4：連鎖論法 (Chain / Flow)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5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主張：日常微小健康行動具備長期複利效應，需透過「100% 認知＋無痛習慣化」轉化為確定性壽命儲備</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馮雪·家庭健康管理100講 第002講 ｜ 行為醫學與神經適應模型</a:t>
            </a:r>
          </a:p>
        </p:txBody>
      </p:sp>
      <p:sp>
        <p:nvSpPr>
          <p:cNvPr id="7" name="Right Arrow 6"/>
          <p:cNvSpPr/>
          <p:nvPr/>
        </p:nvSpPr>
        <p:spPr>
          <a:xfrm>
            <a:off x="731520" y="1874519"/>
            <a:ext cx="10728655" cy="384048"/>
          </a:xfrm>
          <a:prstGeom prst="rightArrow">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② 時間的經過、事物的因果順序、端到端工作流程  ───►</a:t>
            </a:r>
          </a:p>
        </p:txBody>
      </p:sp>
      <p:sp>
        <p:nvSpPr>
          <p:cNvPr id="8" name="Chevron 7"/>
          <p:cNvSpPr/>
          <p:nvPr/>
        </p:nvSpPr>
        <p:spPr>
          <a:xfrm>
            <a:off x="731520"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1</a:t>
            </a:r>
          </a:p>
        </p:txBody>
      </p:sp>
      <p:sp>
        <p:nvSpPr>
          <p:cNvPr id="9" name="Rounded Rectangle 8"/>
          <p:cNvSpPr/>
          <p:nvPr/>
        </p:nvSpPr>
        <p:spPr>
          <a:xfrm>
            <a:off x="731520"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20440"/>
            <a:ext cx="2144953" cy="2468880"/>
          </a:xfrm>
          <a:prstGeom prst="rect">
            <a:avLst/>
          </a:prstGeom>
          <a:noFill/>
        </p:spPr>
        <p:txBody>
          <a:bodyPr wrap="square">
            <a:spAutoFit/>
          </a:bodyPr>
          <a:lstStyle/>
          <a:p/>
        </p:txBody>
      </p:sp>
      <p:sp>
        <p:nvSpPr>
          <p:cNvPr id="11" name="Chevron 10"/>
          <p:cNvSpPr/>
          <p:nvPr/>
        </p:nvSpPr>
        <p:spPr>
          <a:xfrm>
            <a:off x="3470833"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2</a:t>
            </a:r>
          </a:p>
        </p:txBody>
      </p:sp>
      <p:sp>
        <p:nvSpPr>
          <p:cNvPr id="12" name="Rounded Rectangle 11"/>
          <p:cNvSpPr/>
          <p:nvPr/>
        </p:nvSpPr>
        <p:spPr>
          <a:xfrm>
            <a:off x="3470833"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3713" y="3520440"/>
            <a:ext cx="2144953" cy="2468880"/>
          </a:xfrm>
          <a:prstGeom prst="rect">
            <a:avLst/>
          </a:prstGeom>
          <a:noFill/>
        </p:spPr>
        <p:txBody>
          <a:bodyPr wrap="square">
            <a:spAutoFit/>
          </a:bodyPr>
          <a:lstStyle/>
          <a:p/>
        </p:txBody>
      </p:sp>
      <p:sp>
        <p:nvSpPr>
          <p:cNvPr id="14" name="Chevron 13"/>
          <p:cNvSpPr/>
          <p:nvPr/>
        </p:nvSpPr>
        <p:spPr>
          <a:xfrm>
            <a:off x="6210147"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3</a:t>
            </a:r>
          </a:p>
        </p:txBody>
      </p:sp>
      <p:sp>
        <p:nvSpPr>
          <p:cNvPr id="15" name="Rounded Rectangle 14"/>
          <p:cNvSpPr/>
          <p:nvPr/>
        </p:nvSpPr>
        <p:spPr>
          <a:xfrm>
            <a:off x="6210147"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3027" y="3520440"/>
            <a:ext cx="2144953" cy="2468880"/>
          </a:xfrm>
          <a:prstGeom prst="rect">
            <a:avLst/>
          </a:prstGeom>
          <a:noFill/>
        </p:spPr>
        <p:txBody>
          <a:bodyPr wrap="square">
            <a:spAutoFit/>
          </a:bodyPr>
          <a:lstStyle/>
          <a:p/>
        </p:txBody>
      </p:sp>
      <p:sp>
        <p:nvSpPr>
          <p:cNvPr id="17" name="Chevron 16"/>
          <p:cNvSpPr/>
          <p:nvPr/>
        </p:nvSpPr>
        <p:spPr>
          <a:xfrm>
            <a:off x="8949461" y="2468880"/>
            <a:ext cx="2510713" cy="777240"/>
          </a:xfrm>
          <a:prstGeom prst="chevron">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4</a:t>
            </a:r>
          </a:p>
        </p:txBody>
      </p:sp>
      <p:sp>
        <p:nvSpPr>
          <p:cNvPr id="18" name="Rounded Rectangle 17"/>
          <p:cNvSpPr/>
          <p:nvPr/>
        </p:nvSpPr>
        <p:spPr>
          <a:xfrm>
            <a:off x="8949461"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2341" y="3520440"/>
            <a:ext cx="2144953" cy="2468880"/>
          </a:xfrm>
          <a:prstGeom prst="rect">
            <a:avLst/>
          </a:prstGeom>
          <a:noFill/>
        </p:spPr>
        <p:txBody>
          <a:bodyPr wrap="square">
            <a:sp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環境防禦與屏障護理  |  第 003 講  ｜  版型 1：一對一論法 (One-to-One)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6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主張：揉搓滿 20 秒的規範洗手能阻斷 80% 接觸性病原，是成本最低的全因防護網</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CDC 傳染病防護指引 ｜ 馮雪·家庭健康管理100講 第003講</a:t>
            </a:r>
          </a:p>
        </p:txBody>
      </p:sp>
      <p:sp>
        <p:nvSpPr>
          <p:cNvPr id="7" name="Rectangle 6"/>
          <p:cNvSpPr/>
          <p:nvPr/>
        </p:nvSpPr>
        <p:spPr>
          <a:xfrm>
            <a:off x="1836420" y="4602480"/>
            <a:ext cx="777240" cy="1158240"/>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9260" y="4255008"/>
            <a:ext cx="1051560" cy="320040"/>
          </a:xfrm>
          <a:prstGeom prst="rect">
            <a:avLst/>
          </a:prstGeom>
          <a:noFill/>
        </p:spPr>
        <p:txBody>
          <a:bodyPr wrap="none">
            <a:spAutoFit/>
          </a:bodyPr>
          <a:lstStyle/>
          <a:p>
            <a:pPr algn="ctr">
              <a:defRPr sz="1100" b="0">
                <a:solidFill>
                  <a:srgbClr val="64748B"/>
                </a:solidFill>
              </a:defRPr>
            </a:pPr>
            <a:r>
              <a:t>基準線</a:t>
            </a:r>
          </a:p>
        </p:txBody>
      </p:sp>
      <p:sp>
        <p:nvSpPr>
          <p:cNvPr id="9" name="TextBox 8"/>
          <p:cNvSpPr txBox="1"/>
          <p:nvPr/>
        </p:nvSpPr>
        <p:spPr>
          <a:xfrm>
            <a:off x="1653540" y="5833872"/>
            <a:ext cx="1143000" cy="365760"/>
          </a:xfrm>
          <a:prstGeom prst="rect">
            <a:avLst/>
          </a:prstGeom>
          <a:noFill/>
        </p:spPr>
        <p:txBody>
          <a:bodyPr wrap="none">
            <a:spAutoFit/>
          </a:bodyPr>
          <a:lstStyle/>
          <a:p>
            <a:pPr algn="ctr">
              <a:defRPr sz="1200" b="0">
                <a:solidFill>
                  <a:srgbClr val="1F2937"/>
                </a:solidFill>
              </a:defRPr>
            </a:pPr>
            <a:r>
              <a:t>傳統認知 / 忽視基準組</a:t>
            </a:r>
          </a:p>
        </p:txBody>
      </p:sp>
      <p:sp>
        <p:nvSpPr>
          <p:cNvPr id="10" name="Rectangle 9"/>
          <p:cNvSpPr/>
          <p:nvPr/>
        </p:nvSpPr>
        <p:spPr>
          <a:xfrm>
            <a:off x="4091940" y="3637279"/>
            <a:ext cx="777240" cy="2123440"/>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4780" y="3289807"/>
            <a:ext cx="1051560" cy="320040"/>
          </a:xfrm>
          <a:prstGeom prst="rect">
            <a:avLst/>
          </a:prstGeom>
          <a:noFill/>
        </p:spPr>
        <p:txBody>
          <a:bodyPr wrap="none">
            <a:spAutoFit/>
          </a:bodyPr>
          <a:lstStyle/>
          <a:p>
            <a:pPr algn="ctr">
              <a:defRPr sz="1100" b="0">
                <a:solidFill>
                  <a:srgbClr val="64748B"/>
                </a:solidFill>
              </a:defRPr>
            </a:pPr>
            <a:r>
              <a:t>常規</a:t>
            </a:r>
          </a:p>
        </p:txBody>
      </p:sp>
      <p:sp>
        <p:nvSpPr>
          <p:cNvPr id="12" name="TextBox 11"/>
          <p:cNvSpPr txBox="1"/>
          <p:nvPr/>
        </p:nvSpPr>
        <p:spPr>
          <a:xfrm>
            <a:off x="3909060" y="5833872"/>
            <a:ext cx="1143000" cy="365760"/>
          </a:xfrm>
          <a:prstGeom prst="rect">
            <a:avLst/>
          </a:prstGeom>
          <a:noFill/>
        </p:spPr>
        <p:txBody>
          <a:bodyPr wrap="none">
            <a:spAutoFit/>
          </a:bodyPr>
          <a:lstStyle/>
          <a:p>
            <a:pPr algn="ctr">
              <a:defRPr sz="1200" b="0">
                <a:solidFill>
                  <a:srgbClr val="1F2937"/>
                </a:solidFill>
              </a:defRPr>
            </a:pPr>
            <a:r>
              <a:t>普通生活方式組</a:t>
            </a:r>
          </a:p>
        </p:txBody>
      </p:sp>
      <p:sp>
        <p:nvSpPr>
          <p:cNvPr id="13" name="Rectangle 12"/>
          <p:cNvSpPr/>
          <p:nvPr/>
        </p:nvSpPr>
        <p:spPr>
          <a:xfrm>
            <a:off x="6347460" y="2286000"/>
            <a:ext cx="777240" cy="3474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0300" y="1938528"/>
            <a:ext cx="1051560" cy="320040"/>
          </a:xfrm>
          <a:prstGeom prst="rect">
            <a:avLst/>
          </a:prstGeom>
          <a:noFill/>
        </p:spPr>
        <p:txBody>
          <a:bodyPr wrap="none">
            <a:spAutoFit/>
          </a:bodyPr>
          <a:lstStyle/>
          <a:p>
            <a:pPr algn="ctr">
              <a:defRPr sz="1300" b="1">
                <a:solidFill>
                  <a:srgbClr val="051C2C"/>
                </a:solidFill>
              </a:defRPr>
            </a:pPr>
            <a:r>
              <a:t>80%</a:t>
            </a:r>
          </a:p>
        </p:txBody>
      </p:sp>
      <p:sp>
        <p:nvSpPr>
          <p:cNvPr id="15" name="TextBox 14"/>
          <p:cNvSpPr txBox="1"/>
          <p:nvPr/>
        </p:nvSpPr>
        <p:spPr>
          <a:xfrm>
            <a:off x="6164580" y="5833872"/>
            <a:ext cx="1143000" cy="365760"/>
          </a:xfrm>
          <a:prstGeom prst="rect">
            <a:avLst/>
          </a:prstGeom>
          <a:noFill/>
        </p:spPr>
        <p:txBody>
          <a:bodyPr wrap="none">
            <a:spAutoFit/>
          </a:bodyPr>
          <a:lstStyle/>
          <a:p>
            <a:pPr algn="ctr">
              <a:defRPr sz="1200" b="1">
                <a:solidFill>
                  <a:srgbClr val="051C2C"/>
                </a:solidFill>
              </a:defRPr>
            </a:pPr>
            <a:r>
              <a:t>本講核心干預 (接觸性消化道與呼吸道)</a:t>
            </a:r>
          </a:p>
        </p:txBody>
      </p:sp>
      <p:sp>
        <p:nvSpPr>
          <p:cNvPr id="16" name="Rounded Rectangle 15"/>
          <p:cNvSpPr/>
          <p:nvPr/>
        </p:nvSpPr>
        <p:spPr>
          <a:xfrm>
            <a:off x="8229600" y="2011680"/>
            <a:ext cx="3200400" cy="3749039"/>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194560"/>
            <a:ext cx="2834640" cy="3383280"/>
          </a:xfrm>
          <a:prstGeom prst="rect">
            <a:avLst/>
          </a:prstGeom>
          <a:noFill/>
        </p:spPr>
        <p:txBody>
          <a:bodyPr wrap="square">
            <a:spAutoFit/>
          </a:bodyPr>
          <a:lstStyle/>
          <a:p>
            <a:pPr>
              <a:spcAft>
                <a:spcPts val="1000"/>
              </a:spcAft>
              <a:defRPr sz="1500" b="1">
                <a:solidFill>
                  <a:srgbClr val="1E3A8A"/>
                </a:solidFill>
              </a:defRPr>
            </a:pPr>
            <a:r>
              <a:t>② 單一核心證據解析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環境防禦與屏障護理  |  第 004 講  ｜  版型 3：結合論法 (Combined Tree)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7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主張：巴氏刷牙法能清除 90% 牙齦溝牙菌斑，不僅省去巨額牙科費用更直接降低全身動脈硬化風險</a:t>
            </a:r>
          </a:p>
          <a:p>
            <a:pPr>
              <a:defRPr sz="1250">
                <a:solidFill>
                  <a:srgbClr val="64748B"/>
                </a:solidFill>
              </a:defRPr>
            </a:pPr>
            <a:r>
              <a:t>口腔健康非局部問題，牙周菌入血是引發全身血管內皮微炎癥的重大隱蔽源頭</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美國心臟病學會 (AHA) 口腔與心血管共識 ｜ 馮雪·家庭健康管理100講 第004講</a:t>
            </a:r>
          </a:p>
        </p:txBody>
      </p:sp>
      <p:sp>
        <p:nvSpPr>
          <p:cNvPr id="7" name="Rounded Rectangle 6"/>
          <p:cNvSpPr/>
          <p:nvPr/>
        </p:nvSpPr>
        <p:spPr>
          <a:xfrm>
            <a:off x="2011680" y="1783080"/>
            <a:ext cx="8138160" cy="731520"/>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 雙重獲益：節省 90% 牙科治療支出 ＋ 降低 30% 以上心腦血管事件風險</a:t>
            </a:r>
          </a:p>
        </p:txBody>
      </p:sp>
      <p:sp>
        <p:nvSpPr>
          <p:cNvPr id="8" name="Rounded Rectangle 7"/>
          <p:cNvSpPr/>
          <p:nvPr/>
        </p:nvSpPr>
        <p:spPr>
          <a:xfrm>
            <a:off x="73152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局部物理層面：牙齦溝生物膜瓦解</a:t>
            </a:r>
          </a:p>
        </p:txBody>
      </p:sp>
      <p:sp>
        <p:nvSpPr>
          <p:cNvPr id="9" name="Rounded Rectangle 8"/>
          <p:cNvSpPr/>
          <p:nvPr/>
        </p:nvSpPr>
        <p:spPr>
          <a:xfrm>
            <a:off x="731520"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1456944" cy="2103120"/>
          </a:xfrm>
          <a:prstGeom prst="rect">
            <a:avLst/>
          </a:prstGeom>
          <a:noFill/>
        </p:spPr>
        <p:txBody>
          <a:bodyPr wrap="square">
            <a:spAutoFit/>
          </a:bodyPr>
          <a:lstStyle/>
          <a:p>
            <a:pPr>
              <a:defRPr sz="1150">
                <a:solidFill>
                  <a:srgbClr val="1F2937"/>
                </a:solidFill>
              </a:defRPr>
            </a:pPr>
            <a:r>
              <a:t>• 45 度角斜向牙齦溝：精準震顫瓦解深層牙菌斑</a:t>
            </a:r>
          </a:p>
        </p:txBody>
      </p:sp>
      <p:sp>
        <p:nvSpPr>
          <p:cNvPr id="11" name="Rounded Rectangle 10"/>
          <p:cNvSpPr/>
          <p:nvPr/>
        </p:nvSpPr>
        <p:spPr>
          <a:xfrm>
            <a:off x="2508504"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9944" y="3931920"/>
            <a:ext cx="1456944" cy="2103120"/>
          </a:xfrm>
          <a:prstGeom prst="rect">
            <a:avLst/>
          </a:prstGeom>
          <a:noFill/>
        </p:spPr>
        <p:txBody>
          <a:bodyPr wrap="square">
            <a:spAutoFit/>
          </a:bodyPr>
          <a:lstStyle/>
          <a:p>
            <a:pPr>
              <a:defRPr sz="1150">
                <a:solidFill>
                  <a:srgbClr val="1F2937"/>
                </a:solidFill>
              </a:defRPr>
            </a:pPr>
            <a:r>
              <a:t>• 預防 90% 蛀牙、牙周炎、牙齒鬆動與牙根外露</a:t>
            </a:r>
          </a:p>
        </p:txBody>
      </p:sp>
      <p:sp>
        <p:nvSpPr>
          <p:cNvPr id="13" name="Rounded Rectangle 12"/>
          <p:cNvSpPr/>
          <p:nvPr/>
        </p:nvSpPr>
        <p:spPr>
          <a:xfrm>
            <a:off x="4285488"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6928" y="3931920"/>
            <a:ext cx="1456944" cy="2103120"/>
          </a:xfrm>
          <a:prstGeom prst="rect">
            <a:avLst/>
          </a:prstGeom>
          <a:noFill/>
        </p:spPr>
        <p:txBody>
          <a:bodyPr wrap="square">
            <a:spAutoFit/>
          </a:bodyPr>
          <a:lstStyle/>
          <a:p>
            <a:pPr>
              <a:defRPr sz="1150">
                <a:solidFill>
                  <a:srgbClr val="1F2937"/>
                </a:solidFill>
              </a:defRPr>
            </a:pPr>
            <a:r>
              <a:t>• 搭配牙線：徹底清除齒鄰接面死角</a:t>
            </a:r>
          </a:p>
        </p:txBody>
      </p:sp>
      <p:sp>
        <p:nvSpPr>
          <p:cNvPr id="15" name="Rounded Rectangle 14"/>
          <p:cNvSpPr/>
          <p:nvPr/>
        </p:nvSpPr>
        <p:spPr>
          <a:xfrm>
            <a:off x="626364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全身病理層面：阻斷致病菌血管轉移</a:t>
            </a:r>
          </a:p>
        </p:txBody>
      </p:sp>
      <p:sp>
        <p:nvSpPr>
          <p:cNvPr id="16" name="Rounded Rectangle 15"/>
          <p:cNvSpPr/>
          <p:nvPr/>
        </p:nvSpPr>
        <p:spPr>
          <a:xfrm>
            <a:off x="6263640"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931920"/>
            <a:ext cx="1456944" cy="2103120"/>
          </a:xfrm>
          <a:prstGeom prst="rect">
            <a:avLst/>
          </a:prstGeom>
          <a:noFill/>
        </p:spPr>
        <p:txBody>
          <a:bodyPr wrap="square">
            <a:spAutoFit/>
          </a:bodyPr>
          <a:lstStyle/>
          <a:p>
            <a:pPr>
              <a:defRPr sz="1150">
                <a:solidFill>
                  <a:srgbClr val="1F2937"/>
                </a:solidFill>
              </a:defRPr>
            </a:pPr>
            <a:r>
              <a:t>• 截斷牙齦卟啉單胞菌等毒素入血通道</a:t>
            </a:r>
          </a:p>
        </p:txBody>
      </p:sp>
      <p:sp>
        <p:nvSpPr>
          <p:cNvPr id="18" name="Rounded Rectangle 17"/>
          <p:cNvSpPr/>
          <p:nvPr/>
        </p:nvSpPr>
        <p:spPr>
          <a:xfrm>
            <a:off x="8040624"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2063" y="3931920"/>
            <a:ext cx="1456944" cy="2103120"/>
          </a:xfrm>
          <a:prstGeom prst="rect">
            <a:avLst/>
          </a:prstGeom>
          <a:noFill/>
        </p:spPr>
        <p:txBody>
          <a:bodyPr wrap="square">
            <a:spAutoFit/>
          </a:bodyPr>
          <a:lstStyle/>
          <a:p>
            <a:pPr>
              <a:defRPr sz="1150">
                <a:solidFill>
                  <a:srgbClr val="1F2937"/>
                </a:solidFill>
              </a:defRPr>
            </a:pPr>
            <a:r>
              <a:t>• 抑制全身高敏 C-反應蛋白 (hs-CRP) 持續釋放</a:t>
            </a:r>
          </a:p>
        </p:txBody>
      </p:sp>
      <p:sp>
        <p:nvSpPr>
          <p:cNvPr id="20" name="Rounded Rectangle 19"/>
          <p:cNvSpPr/>
          <p:nvPr/>
        </p:nvSpPr>
        <p:spPr>
          <a:xfrm>
            <a:off x="9817608"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9048" y="3931920"/>
            <a:ext cx="1456944" cy="2103120"/>
          </a:xfrm>
          <a:prstGeom prst="rect">
            <a:avLst/>
          </a:prstGeom>
          <a:noFill/>
        </p:spPr>
        <p:txBody>
          <a:bodyPr wrap="square">
            <a:spAutoFit/>
          </a:bodyPr>
          <a:lstStyle/>
          <a:p>
            <a:pPr>
              <a:defRPr sz="1150">
                <a:solidFill>
                  <a:srgbClr val="1F2937"/>
                </a:solidFill>
              </a:defRPr>
            </a:pPr>
            <a:r>
              <a:t>• 顯著延緩冠狀動脈粥樣硬化斑塊形成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環境防禦與屏障護理  |  第 005 講  ｜  版型 5：麥肯錫論法 (McKinsey Matrix)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8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主張：牙刷選購遵循「小、短、中、換」四字訣，搭配含氟牙膏即可達到最高效益的防蛀與牙齦保護</a:t>
            </a:r>
          </a:p>
          <a:p>
            <a:pPr>
              <a:defRPr sz="1250">
                <a:solidFill>
                  <a:srgbClr val="64748B"/>
                </a:solidFill>
              </a:defRPr>
            </a:pPr>
            <a:r>
              <a:t>跨維度匹配牙刷硬體指標與牙膏化學活性成分，杜絕行銷噱頭</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國際牙科研究協會 (IADR) ｜ 馮雪·家庭健康管理100講 第005講</a:t>
            </a:r>
          </a:p>
        </p:txBody>
      </p:sp>
      <p:sp>
        <p:nvSpPr>
          <p:cNvPr id="7" name="Chevron 6"/>
          <p:cNvSpPr/>
          <p:nvPr/>
        </p:nvSpPr>
        <p:spPr>
          <a:xfrm>
            <a:off x="2834640"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1：進貨</a:t>
            </a:r>
          </a:p>
        </p:txBody>
      </p:sp>
      <p:sp>
        <p:nvSpPr>
          <p:cNvPr id="8" name="Chevron 7"/>
          <p:cNvSpPr/>
          <p:nvPr/>
        </p:nvSpPr>
        <p:spPr>
          <a:xfrm>
            <a:off x="5770778"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2：製造</a:t>
            </a:r>
          </a:p>
        </p:txBody>
      </p:sp>
      <p:sp>
        <p:nvSpPr>
          <p:cNvPr id="9" name="Chevron 8"/>
          <p:cNvSpPr/>
          <p:nvPr/>
        </p:nvSpPr>
        <p:spPr>
          <a:xfrm>
            <a:off x="8706916"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3：販售</a:t>
            </a:r>
          </a:p>
        </p:txBody>
      </p:sp>
      <p:sp>
        <p:nvSpPr>
          <p:cNvPr id="10" name="Rectangle 9"/>
          <p:cNvSpPr/>
          <p:nvPr/>
        </p:nvSpPr>
        <p:spPr>
          <a:xfrm>
            <a:off x="731520" y="2606040"/>
            <a:ext cx="1920240" cy="11887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1</a:t>
            </a:r>
          </a:p>
        </p:txBody>
      </p:sp>
      <p:sp>
        <p:nvSpPr>
          <p:cNvPr id="11" name="Rounded Rectangle 10"/>
          <p:cNvSpPr/>
          <p:nvPr/>
        </p:nvSpPr>
        <p:spPr>
          <a:xfrm>
            <a:off x="2834640"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743200"/>
            <a:ext cx="2478938" cy="914400"/>
          </a:xfrm>
          <a:prstGeom prst="rect">
            <a:avLst/>
          </a:prstGeom>
          <a:noFill/>
        </p:spPr>
        <p:txBody>
          <a:bodyPr wrap="square">
            <a:spAutoFit/>
          </a:bodyPr>
          <a:lstStyle/>
          <a:p>
            <a:pPr>
              <a:defRPr sz="1250">
                <a:solidFill>
                  <a:srgbClr val="1F2937"/>
                </a:solidFill>
              </a:defRPr>
            </a:pPr>
            <a:r>
              <a:t>—</a:t>
            </a:r>
          </a:p>
        </p:txBody>
      </p:sp>
      <p:sp>
        <p:nvSpPr>
          <p:cNvPr id="13" name="Rounded Rectangle 12"/>
          <p:cNvSpPr/>
          <p:nvPr/>
        </p:nvSpPr>
        <p:spPr>
          <a:xfrm>
            <a:off x="5770778"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938" y="2743200"/>
            <a:ext cx="2478938" cy="914400"/>
          </a:xfrm>
          <a:prstGeom prst="rect">
            <a:avLst/>
          </a:prstGeom>
          <a:noFill/>
        </p:spPr>
        <p:txBody>
          <a:bodyPr wrap="square">
            <a:spAutoFit/>
          </a:bodyPr>
          <a:lstStyle/>
          <a:p>
            <a:pPr>
              <a:defRPr sz="1250">
                <a:solidFill>
                  <a:srgbClr val="1F2937"/>
                </a:solidFill>
              </a:defRPr>
            </a:pPr>
            <a:r>
              <a:t>—</a:t>
            </a:r>
          </a:p>
        </p:txBody>
      </p:sp>
      <p:sp>
        <p:nvSpPr>
          <p:cNvPr id="15" name="Rounded Rectangle 14"/>
          <p:cNvSpPr/>
          <p:nvPr/>
        </p:nvSpPr>
        <p:spPr>
          <a:xfrm>
            <a:off x="8706916"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4076" y="2743200"/>
            <a:ext cx="2478938" cy="914400"/>
          </a:xfrm>
          <a:prstGeom prst="rect">
            <a:avLst/>
          </a:prstGeom>
          <a:noFill/>
        </p:spPr>
        <p:txBody>
          <a:bodyPr wrap="square">
            <a:spAutoFit/>
          </a:bodyPr>
          <a:lstStyle/>
          <a:p>
            <a:pPr>
              <a:defRPr sz="1250">
                <a:solidFill>
                  <a:srgbClr val="1F2937"/>
                </a:solidFill>
              </a:defRPr>
            </a:pPr>
            <a:r>
              <a:t>—</a:t>
            </a:r>
          </a:p>
        </p:txBody>
      </p:sp>
      <p:sp>
        <p:nvSpPr>
          <p:cNvPr id="17" name="Rectangle 16"/>
          <p:cNvSpPr/>
          <p:nvPr/>
        </p:nvSpPr>
        <p:spPr>
          <a:xfrm>
            <a:off x="731520" y="3977639"/>
            <a:ext cx="1920240" cy="11887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2</a:t>
            </a:r>
          </a:p>
        </p:txBody>
      </p:sp>
      <p:sp>
        <p:nvSpPr>
          <p:cNvPr id="18" name="Rounded Rectangle 17"/>
          <p:cNvSpPr/>
          <p:nvPr/>
        </p:nvSpPr>
        <p:spPr>
          <a:xfrm>
            <a:off x="2834640"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4114800"/>
            <a:ext cx="2478938" cy="914400"/>
          </a:xfrm>
          <a:prstGeom prst="rect">
            <a:avLst/>
          </a:prstGeom>
          <a:noFill/>
        </p:spPr>
        <p:txBody>
          <a:bodyPr wrap="square">
            <a:spAutoFit/>
          </a:bodyPr>
          <a:lstStyle/>
          <a:p>
            <a:pPr>
              <a:defRPr sz="1250">
                <a:solidFill>
                  <a:srgbClr val="1F2937"/>
                </a:solidFill>
              </a:defRPr>
            </a:pPr>
            <a:r>
              <a:t>—</a:t>
            </a:r>
          </a:p>
        </p:txBody>
      </p:sp>
      <p:sp>
        <p:nvSpPr>
          <p:cNvPr id="20" name="Rounded Rectangle 19"/>
          <p:cNvSpPr/>
          <p:nvPr/>
        </p:nvSpPr>
        <p:spPr>
          <a:xfrm>
            <a:off x="5770778"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07938" y="4114800"/>
            <a:ext cx="2478938" cy="914400"/>
          </a:xfrm>
          <a:prstGeom prst="rect">
            <a:avLst/>
          </a:prstGeom>
          <a:noFill/>
        </p:spPr>
        <p:txBody>
          <a:bodyPr wrap="square">
            <a:spAutoFit/>
          </a:bodyPr>
          <a:lstStyle/>
          <a:p>
            <a:pPr>
              <a:defRPr sz="1250">
                <a:solidFill>
                  <a:srgbClr val="1F2937"/>
                </a:solidFill>
              </a:defRPr>
            </a:pPr>
            <a:r>
              <a:t>—</a:t>
            </a:r>
          </a:p>
        </p:txBody>
      </p:sp>
      <p:sp>
        <p:nvSpPr>
          <p:cNvPr id="22" name="Rounded Rectangle 21"/>
          <p:cNvSpPr/>
          <p:nvPr/>
        </p:nvSpPr>
        <p:spPr>
          <a:xfrm>
            <a:off x="8706916"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44076" y="4114800"/>
            <a:ext cx="2478938" cy="914400"/>
          </a:xfrm>
          <a:prstGeom prst="rect">
            <a:avLst/>
          </a:prstGeom>
          <a:noFill/>
        </p:spPr>
        <p:txBody>
          <a:bodyPr wrap="square">
            <a:spAutoFit/>
          </a:bodyPr>
          <a:lstStyle/>
          <a:p>
            <a:pPr>
              <a:defRPr sz="1250">
                <a:solidFill>
                  <a:srgbClr val="1F2937"/>
                </a:solidFill>
              </a:defRPr>
            </a:pPr>
            <a:r>
              <a:t>—</a:t>
            </a:r>
          </a:p>
        </p:txBody>
      </p:sp>
      <p:sp>
        <p:nvSpPr>
          <p:cNvPr id="24" name="Rectangle 23"/>
          <p:cNvSpPr/>
          <p:nvPr/>
        </p:nvSpPr>
        <p:spPr>
          <a:xfrm>
            <a:off x="731520" y="5349240"/>
            <a:ext cx="1920240" cy="1188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3</a:t>
            </a:r>
          </a:p>
        </p:txBody>
      </p:sp>
      <p:sp>
        <p:nvSpPr>
          <p:cNvPr id="25" name="Rounded Rectangle 24"/>
          <p:cNvSpPr/>
          <p:nvPr/>
        </p:nvSpPr>
        <p:spPr>
          <a:xfrm>
            <a:off x="2834640"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486400"/>
            <a:ext cx="2478938" cy="914400"/>
          </a:xfrm>
          <a:prstGeom prst="rect">
            <a:avLst/>
          </a:prstGeom>
          <a:noFill/>
        </p:spPr>
        <p:txBody>
          <a:bodyPr wrap="square">
            <a:spAutoFit/>
          </a:bodyPr>
          <a:lstStyle/>
          <a:p>
            <a:pPr>
              <a:defRPr sz="1250">
                <a:solidFill>
                  <a:srgbClr val="1F2937"/>
                </a:solidFill>
              </a:defRPr>
            </a:pPr>
            <a:r>
              <a:t>—</a:t>
            </a:r>
          </a:p>
        </p:txBody>
      </p:sp>
      <p:sp>
        <p:nvSpPr>
          <p:cNvPr id="27" name="Rounded Rectangle 26"/>
          <p:cNvSpPr/>
          <p:nvPr/>
        </p:nvSpPr>
        <p:spPr>
          <a:xfrm>
            <a:off x="5770778"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07938" y="5486400"/>
            <a:ext cx="2478938" cy="914400"/>
          </a:xfrm>
          <a:prstGeom prst="rect">
            <a:avLst/>
          </a:prstGeom>
          <a:noFill/>
        </p:spPr>
        <p:txBody>
          <a:bodyPr wrap="square">
            <a:spAutoFit/>
          </a:bodyPr>
          <a:lstStyle/>
          <a:p>
            <a:pPr>
              <a:defRPr sz="1250">
                <a:solidFill>
                  <a:srgbClr val="1F2937"/>
                </a:solidFill>
              </a:defRPr>
            </a:pPr>
            <a:r>
              <a:t>—</a:t>
            </a:r>
          </a:p>
        </p:txBody>
      </p:sp>
      <p:sp>
        <p:nvSpPr>
          <p:cNvPr id="29" name="Rounded Rectangle 28"/>
          <p:cNvSpPr/>
          <p:nvPr/>
        </p:nvSpPr>
        <p:spPr>
          <a:xfrm>
            <a:off x="8706916"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44076" y="5486400"/>
            <a:ext cx="2478938" cy="914400"/>
          </a:xfrm>
          <a:prstGeom prst="rect">
            <a:avLst/>
          </a:prstGeom>
          <a:noFill/>
        </p:spPr>
        <p:txBody>
          <a:bodyPr wrap="square">
            <a:spAutoFit/>
          </a:bodyPr>
          <a:lstStyle/>
          <a:p>
            <a:pPr>
              <a:defRPr sz="1250">
                <a:solidFill>
                  <a:srgbClr val="1F2937"/>
                </a:solidFill>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環境防禦與屏障護理  |  第 006 講  ｜  版型 8：BCG 論法 (BCG 2×2 Matrix)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9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① 主張：PM2.5 可直接穿透肺泡進入血液循環，需依即時指數動態啟動「分級防護與室內 HEPA 淨化」</a:t>
            </a:r>
          </a:p>
          <a:p>
            <a:pPr>
              <a:defRPr sz="1250">
                <a:solidFill>
                  <a:srgbClr val="6B7280"/>
                </a:solidFill>
              </a:defRPr>
            </a:pPr>
            <a:r>
              <a:t>結合空氣污染程度（橫軸）與活動強度/換氣量（縱軸）構建防禦象限</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Source: WHO 空氣品質指南 ｜ 馮雪·家庭健康管理100講 第006講</a:t>
            </a:r>
          </a:p>
        </p:txBody>
      </p:sp>
      <p:sp>
        <p:nvSpPr>
          <p:cNvPr id="7" name="Rectangle 6"/>
          <p:cNvSpPr/>
          <p:nvPr/>
        </p:nvSpPr>
        <p:spPr>
          <a:xfrm>
            <a:off x="731520" y="1874519"/>
            <a:ext cx="1371600" cy="3749039"/>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高換氣量（慢跑/劇烈運動）</a:t>
            </a:r>
            <a:br/>
            <a:r>
              <a:t>│  換氣量維度</a:t>
            </a:r>
            <a:br/>
            <a:r>
              <a:t>▼ 靜態活動（日常步行/通勤）</a:t>
            </a:r>
          </a:p>
        </p:txBody>
      </p:sp>
      <p:sp>
        <p:nvSpPr>
          <p:cNvPr id="8" name="Rectangle 7"/>
          <p:cNvSpPr/>
          <p:nvPr/>
        </p:nvSpPr>
        <p:spPr>
          <a:xfrm>
            <a:off x="2286000" y="5760720"/>
            <a:ext cx="9052560" cy="438912"/>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低污染 (PM2.5 &lt; 75)        空氣品質指數 (AQI) 梯度        重污染 (PM2.5 ≥ 75) ►</a:t>
            </a:r>
          </a:p>
        </p:txBody>
      </p:sp>
      <p:sp>
        <p:nvSpPr>
          <p:cNvPr id="9" name="Rounded Rectangle 8"/>
          <p:cNvSpPr/>
          <p:nvPr/>
        </p:nvSpPr>
        <p:spPr>
          <a:xfrm>
            <a:off x="2286000" y="1874519"/>
            <a:ext cx="4434840" cy="1810512"/>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011679"/>
            <a:ext cx="4069079" cy="1536192"/>
          </a:xfrm>
          <a:prstGeom prst="rect">
            <a:avLst/>
          </a:prstGeom>
          <a:noFill/>
        </p:spPr>
        <p:txBody>
          <a:bodyPr wrap="square">
            <a:spAutoFit/>
          </a:bodyPr>
          <a:lstStyle/>
          <a:p>
            <a:pPr>
              <a:spcAft>
                <a:spcPts val="600"/>
              </a:spcAft>
              <a:defRPr sz="1400" b="1">
                <a:solidFill>
                  <a:srgbClr val="177B57"/>
                </a:solidFill>
              </a:defRPr>
            </a:pPr>
            <a:r>
              <a:t>③ 安全戶外運動區</a:t>
            </a:r>
          </a:p>
          <a:p>
            <a:pPr>
              <a:defRPr sz="1200">
                <a:solidFill>
                  <a:srgbClr val="1F2937"/>
                </a:solidFill>
              </a:defRPr>
            </a:pPr>
            <a:r>
              <a:t>充分享受陽光與新鮮空氣</a:t>
            </a:r>
            <a:br/>
            <a:r>
              <a:t>• 激發心肺耐力與代謝活力</a:t>
            </a:r>
          </a:p>
        </p:txBody>
      </p:sp>
      <p:sp>
        <p:nvSpPr>
          <p:cNvPr id="11" name="Rounded Rectangle 10"/>
          <p:cNvSpPr/>
          <p:nvPr/>
        </p:nvSpPr>
        <p:spPr>
          <a:xfrm>
            <a:off x="6903720" y="1874519"/>
            <a:ext cx="4434840" cy="1810512"/>
          </a:xfrm>
          <a:prstGeom prst="roundRect">
            <a:avLst/>
          </a:prstGeom>
          <a:solidFill>
            <a:srgbClr val="DCFCE7"/>
          </a:solidFill>
          <a:ln w="2540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2011679"/>
            <a:ext cx="4069079" cy="1536192"/>
          </a:xfrm>
          <a:prstGeom prst="rect">
            <a:avLst/>
          </a:prstGeom>
          <a:noFill/>
        </p:spPr>
        <p:txBody>
          <a:bodyPr wrap="square">
            <a:spAutoFit/>
          </a:bodyPr>
          <a:lstStyle/>
          <a:p>
            <a:pPr>
              <a:spcAft>
                <a:spcPts val="600"/>
              </a:spcAft>
              <a:defRPr sz="1400" b="1">
                <a:solidFill>
                  <a:srgbClr val="004F32"/>
                </a:solidFill>
              </a:defRPr>
            </a:pPr>
            <a:r>
              <a:t>③ 高危致命損害區 ★ 強制規避</a:t>
            </a:r>
          </a:p>
          <a:p>
            <a:pPr>
              <a:defRPr sz="1200">
                <a:solidFill>
                  <a:srgbClr val="1F2937"/>
                </a:solidFill>
              </a:defRPr>
            </a:pPr>
            <a:r>
              <a:t>換氣量增加 5–10 倍，深層肺泡顆粒物沉積暴增</a:t>
            </a:r>
            <a:br/>
            <a:r>
              <a:t>• 嚴禁戶外跑步，誘發急性心肌缺血</a:t>
            </a:r>
            <a:br/>
            <a:r>
              <a:t>• 轉移至室內 HEPA 淨化環境訓練</a:t>
            </a:r>
          </a:p>
        </p:txBody>
      </p:sp>
      <p:sp>
        <p:nvSpPr>
          <p:cNvPr id="13" name="Rounded Rectangle 12"/>
          <p:cNvSpPr/>
          <p:nvPr/>
        </p:nvSpPr>
        <p:spPr>
          <a:xfrm>
            <a:off x="2286000" y="3822191"/>
            <a:ext cx="4434840" cy="1810512"/>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3959352"/>
            <a:ext cx="4069079" cy="1536192"/>
          </a:xfrm>
          <a:prstGeom prst="rect">
            <a:avLst/>
          </a:prstGeom>
          <a:noFill/>
        </p:spPr>
        <p:txBody>
          <a:bodyPr wrap="square">
            <a:spAutoFit/>
          </a:bodyPr>
          <a:lstStyle/>
          <a:p>
            <a:pPr>
              <a:spcAft>
                <a:spcPts val="600"/>
              </a:spcAft>
              <a:defRPr sz="1400" b="1">
                <a:solidFill>
                  <a:srgbClr val="177B57"/>
                </a:solidFill>
              </a:defRPr>
            </a:pPr>
            <a:r>
              <a:t>③ 正常日常通行區</a:t>
            </a:r>
          </a:p>
          <a:p>
            <a:pPr>
              <a:defRPr sz="1200">
                <a:solidFill>
                  <a:srgbClr val="1F2937"/>
                </a:solidFill>
              </a:defRPr>
            </a:pPr>
            <a:r>
              <a:t>常態化生活與休閒</a:t>
            </a:r>
            <a:br/>
            <a:r>
              <a:t>• 無需額外物理阻隔</a:t>
            </a:r>
          </a:p>
        </p:txBody>
      </p:sp>
      <p:sp>
        <p:nvSpPr>
          <p:cNvPr id="15" name="Rounded Rectangle 14"/>
          <p:cNvSpPr/>
          <p:nvPr/>
        </p:nvSpPr>
        <p:spPr>
          <a:xfrm>
            <a:off x="6903720" y="3822191"/>
            <a:ext cx="4434840" cy="1810512"/>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3959352"/>
            <a:ext cx="4069079" cy="1536192"/>
          </a:xfrm>
          <a:prstGeom prst="rect">
            <a:avLst/>
          </a:prstGeom>
          <a:noFill/>
        </p:spPr>
        <p:txBody>
          <a:bodyPr wrap="square">
            <a:spAutoFit/>
          </a:bodyPr>
          <a:lstStyle/>
          <a:p>
            <a:pPr>
              <a:spcAft>
                <a:spcPts val="600"/>
              </a:spcAft>
              <a:defRPr sz="1400" b="1">
                <a:solidFill>
                  <a:srgbClr val="177B57"/>
                </a:solidFill>
              </a:defRPr>
            </a:pPr>
            <a:r>
              <a:t>③ 剛性防護隔離區</a:t>
            </a:r>
          </a:p>
          <a:p>
            <a:pPr>
              <a:defRPr sz="1200">
                <a:solidFill>
                  <a:srgbClr val="1F2937"/>
                </a:solidFill>
              </a:defRPr>
            </a:pPr>
            <a:r>
              <a:t>必須外出時佩戴 KN95 / N95 口罩</a:t>
            </a:r>
            <a:br/>
            <a:r>
              <a:t>• 關閉門窗，啟動空氣清淨機</a:t>
            </a:r>
            <a:br/>
            <a:r>
              <a:t>• 老人、哮喘患者居家靜態休養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晝夜節律與修復系統  |  第 007 講  ｜  版型 6：對立論法 (Opposition)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10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主張：日照缺乏的全因死亡風險與吸煙相當，科學獲取 UVB 輻射是激發自體維生素 D 與調節節律的最優解</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Journal of Internal Medicine 2016 ｜ 馮雪·家庭健康管理100講 第007講</a:t>
            </a:r>
          </a:p>
        </p:txBody>
      </p:sp>
      <p:sp>
        <p:nvSpPr>
          <p:cNvPr id="7" name="Rectangle 6"/>
          <p:cNvSpPr/>
          <p:nvPr/>
        </p:nvSpPr>
        <p:spPr>
          <a:xfrm>
            <a:off x="2651760" y="1828800"/>
            <a:ext cx="4297680" cy="5029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嚴重缺乏日照組（常年室內/極端遮陽）</a:t>
            </a:r>
          </a:p>
        </p:txBody>
      </p:sp>
      <p:sp>
        <p:nvSpPr>
          <p:cNvPr id="8" name="Rectangle 7"/>
          <p:cNvSpPr/>
          <p:nvPr/>
        </p:nvSpPr>
        <p:spPr>
          <a:xfrm>
            <a:off x="7132320" y="1828800"/>
            <a:ext cx="42976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適度規律日照組（每日 15-30min 裸露手臂） ★</a:t>
            </a:r>
          </a:p>
        </p:txBody>
      </p:sp>
      <p:sp>
        <p:nvSpPr>
          <p:cNvPr id="9" name="Oval 8"/>
          <p:cNvSpPr/>
          <p:nvPr/>
        </p:nvSpPr>
        <p:spPr>
          <a:xfrm>
            <a:off x="731520" y="2468880"/>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r>
              <a:t>全因死亡風險</a:t>
            </a:r>
          </a:p>
        </p:txBody>
      </p:sp>
      <p:sp>
        <p:nvSpPr>
          <p:cNvPr id="10" name="Rounded Rectangle 9"/>
          <p:cNvSpPr/>
          <p:nvPr/>
        </p:nvSpPr>
        <p:spPr>
          <a:xfrm>
            <a:off x="2651760" y="2468880"/>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42032"/>
            <a:ext cx="4023360" cy="722375"/>
          </a:xfrm>
          <a:prstGeom prst="rect">
            <a:avLst/>
          </a:prstGeom>
          <a:noFill/>
        </p:spPr>
        <p:txBody>
          <a:bodyPr wrap="square">
            <a:spAutoFit/>
          </a:bodyPr>
          <a:lstStyle/>
          <a:p>
            <a:pPr>
              <a:defRPr sz="1200">
                <a:solidFill>
                  <a:srgbClr val="1F2937"/>
                </a:solidFill>
              </a:defRPr>
            </a:pPr>
            <a:r>
              <a:t>死亡風險上升，危害程度與長期吸煙者相當</a:t>
            </a:r>
          </a:p>
        </p:txBody>
      </p:sp>
      <p:sp>
        <p:nvSpPr>
          <p:cNvPr id="12" name="Rounded Rectangle 11"/>
          <p:cNvSpPr/>
          <p:nvPr/>
        </p:nvSpPr>
        <p:spPr>
          <a:xfrm>
            <a:off x="7132320" y="2468880"/>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542032"/>
            <a:ext cx="4023360" cy="722375"/>
          </a:xfrm>
          <a:prstGeom prst="rect">
            <a:avLst/>
          </a:prstGeom>
          <a:noFill/>
        </p:spPr>
        <p:txBody>
          <a:bodyPr wrap="square">
            <a:spAutoFit/>
          </a:bodyPr>
          <a:lstStyle/>
          <a:p>
            <a:pPr>
              <a:defRPr sz="1200">
                <a:solidFill>
                  <a:srgbClr val="1F2937"/>
                </a:solidFill>
              </a:defRPr>
            </a:pPr>
            <a:r>
              <a:t>心腦血管與全因死亡率顯著下降 12%–20%</a:t>
            </a:r>
          </a:p>
        </p:txBody>
      </p:sp>
      <p:sp>
        <p:nvSpPr>
          <p:cNvPr id="14" name="Oval 13"/>
          <p:cNvSpPr/>
          <p:nvPr/>
        </p:nvSpPr>
        <p:spPr>
          <a:xfrm>
            <a:off x="731520" y="3447288"/>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r>
              <a:t>自體維生素D</a:t>
            </a:r>
          </a:p>
        </p:txBody>
      </p:sp>
      <p:sp>
        <p:nvSpPr>
          <p:cNvPr id="15" name="Rounded Rectangle 14"/>
          <p:cNvSpPr/>
          <p:nvPr/>
        </p:nvSpPr>
        <p:spPr>
          <a:xfrm>
            <a:off x="2651760" y="3447288"/>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20440"/>
            <a:ext cx="4023360" cy="722375"/>
          </a:xfrm>
          <a:prstGeom prst="rect">
            <a:avLst/>
          </a:prstGeom>
          <a:noFill/>
        </p:spPr>
        <p:txBody>
          <a:bodyPr wrap="square">
            <a:spAutoFit/>
          </a:bodyPr>
          <a:lstStyle/>
          <a:p>
            <a:pPr>
              <a:defRPr sz="1200">
                <a:solidFill>
                  <a:srgbClr val="1F2937"/>
                </a:solidFill>
              </a:defRPr>
            </a:pPr>
            <a:r>
              <a:t>自體合成停滯，引發骨質疏鬆、肌無力與免疫低下</a:t>
            </a:r>
          </a:p>
        </p:txBody>
      </p:sp>
      <p:sp>
        <p:nvSpPr>
          <p:cNvPr id="17" name="Rounded Rectangle 16"/>
          <p:cNvSpPr/>
          <p:nvPr/>
        </p:nvSpPr>
        <p:spPr>
          <a:xfrm>
            <a:off x="7132320" y="3447288"/>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3520440"/>
            <a:ext cx="4023360" cy="722375"/>
          </a:xfrm>
          <a:prstGeom prst="rect">
            <a:avLst/>
          </a:prstGeom>
          <a:noFill/>
        </p:spPr>
        <p:txBody>
          <a:bodyPr wrap="square">
            <a:spAutoFit/>
          </a:bodyPr>
          <a:lstStyle/>
          <a:p>
            <a:pPr>
              <a:defRPr sz="1200">
                <a:solidFill>
                  <a:srgbClr val="1F2937"/>
                </a:solidFill>
              </a:defRPr>
            </a:pPr>
            <a:r>
              <a:t>高效生成活性 D3，調控全身 1000+ 免疫相關基因</a:t>
            </a:r>
          </a:p>
        </p:txBody>
      </p:sp>
      <p:sp>
        <p:nvSpPr>
          <p:cNvPr id="19" name="Oval 18"/>
          <p:cNvSpPr/>
          <p:nvPr/>
        </p:nvSpPr>
        <p:spPr>
          <a:xfrm>
            <a:off x="731520" y="4425696"/>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r>
              <a:t>生物鐘與情緒</a:t>
            </a:r>
          </a:p>
        </p:txBody>
      </p:sp>
      <p:sp>
        <p:nvSpPr>
          <p:cNvPr id="20" name="Rounded Rectangle 19"/>
          <p:cNvSpPr/>
          <p:nvPr/>
        </p:nvSpPr>
        <p:spPr>
          <a:xfrm>
            <a:off x="2651760" y="4425696"/>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498848"/>
            <a:ext cx="4023360" cy="722375"/>
          </a:xfrm>
          <a:prstGeom prst="rect">
            <a:avLst/>
          </a:prstGeom>
          <a:noFill/>
        </p:spPr>
        <p:txBody>
          <a:bodyPr wrap="square">
            <a:spAutoFit/>
          </a:bodyPr>
          <a:lstStyle/>
          <a:p>
            <a:pPr>
              <a:defRPr sz="1200">
                <a:solidFill>
                  <a:srgbClr val="1F2937"/>
                </a:solidFill>
              </a:defRPr>
            </a:pPr>
            <a:r>
              <a:t>晝夜褪黑素分泌相位混亂，失眠焦慮高發</a:t>
            </a:r>
          </a:p>
        </p:txBody>
      </p:sp>
      <p:sp>
        <p:nvSpPr>
          <p:cNvPr id="22" name="Rounded Rectangle 21"/>
          <p:cNvSpPr/>
          <p:nvPr/>
        </p:nvSpPr>
        <p:spPr>
          <a:xfrm>
            <a:off x="7132320" y="4425696"/>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4498848"/>
            <a:ext cx="4023360" cy="722375"/>
          </a:xfrm>
          <a:prstGeom prst="rect">
            <a:avLst/>
          </a:prstGeom>
          <a:noFill/>
        </p:spPr>
        <p:txBody>
          <a:bodyPr wrap="square">
            <a:spAutoFit/>
          </a:bodyPr>
          <a:lstStyle/>
          <a:p>
            <a:pPr>
              <a:defRPr sz="1200">
                <a:solidFill>
                  <a:srgbClr val="1F2937"/>
                </a:solidFill>
              </a:defRPr>
            </a:pPr>
            <a:r>
              <a:t>日間血清素充沛，夜間褪黑素深睡眠峰值增強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晝夜節律與修復系統  |  第 008 講  ｜  版型 1：一對一論法 (One-to-One)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11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主張：睡眠是日常唯一無替代品的修復基石，維持 7–8 小時區間可將腦內排毒與心血管修復效益最大化</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Nature Medicine &amp; Sleep Medicine Reviews ｜ 馮雪·家庭健康管理100講 第008講</a:t>
            </a:r>
          </a:p>
        </p:txBody>
      </p:sp>
      <p:sp>
        <p:nvSpPr>
          <p:cNvPr id="7" name="Rectangle 6"/>
          <p:cNvSpPr/>
          <p:nvPr/>
        </p:nvSpPr>
        <p:spPr>
          <a:xfrm>
            <a:off x="1836420" y="4602480"/>
            <a:ext cx="777240" cy="1158240"/>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9260" y="4255008"/>
            <a:ext cx="1051560" cy="320040"/>
          </a:xfrm>
          <a:prstGeom prst="rect">
            <a:avLst/>
          </a:prstGeom>
          <a:noFill/>
        </p:spPr>
        <p:txBody>
          <a:bodyPr wrap="none">
            <a:spAutoFit/>
          </a:bodyPr>
          <a:lstStyle/>
          <a:p>
            <a:pPr algn="ctr">
              <a:defRPr sz="1100" b="0">
                <a:solidFill>
                  <a:srgbClr val="64748B"/>
                </a:solidFill>
              </a:defRPr>
            </a:pPr>
            <a:r>
              <a:t>基準線</a:t>
            </a:r>
          </a:p>
        </p:txBody>
      </p:sp>
      <p:sp>
        <p:nvSpPr>
          <p:cNvPr id="9" name="TextBox 8"/>
          <p:cNvSpPr txBox="1"/>
          <p:nvPr/>
        </p:nvSpPr>
        <p:spPr>
          <a:xfrm>
            <a:off x="1653540" y="5833872"/>
            <a:ext cx="1143000" cy="365760"/>
          </a:xfrm>
          <a:prstGeom prst="rect">
            <a:avLst/>
          </a:prstGeom>
          <a:noFill/>
        </p:spPr>
        <p:txBody>
          <a:bodyPr wrap="none">
            <a:spAutoFit/>
          </a:bodyPr>
          <a:lstStyle/>
          <a:p>
            <a:pPr algn="ctr">
              <a:defRPr sz="1200" b="0">
                <a:solidFill>
                  <a:srgbClr val="1F2937"/>
                </a:solidFill>
              </a:defRPr>
            </a:pPr>
            <a:r>
              <a:t>傳統認知 / 忽視基準組</a:t>
            </a:r>
          </a:p>
        </p:txBody>
      </p:sp>
      <p:sp>
        <p:nvSpPr>
          <p:cNvPr id="10" name="Rectangle 9"/>
          <p:cNvSpPr/>
          <p:nvPr/>
        </p:nvSpPr>
        <p:spPr>
          <a:xfrm>
            <a:off x="4091940" y="3637279"/>
            <a:ext cx="777240" cy="2123440"/>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4780" y="3289807"/>
            <a:ext cx="1051560" cy="320040"/>
          </a:xfrm>
          <a:prstGeom prst="rect">
            <a:avLst/>
          </a:prstGeom>
          <a:noFill/>
        </p:spPr>
        <p:txBody>
          <a:bodyPr wrap="none">
            <a:spAutoFit/>
          </a:bodyPr>
          <a:lstStyle/>
          <a:p>
            <a:pPr algn="ctr">
              <a:defRPr sz="1100" b="0">
                <a:solidFill>
                  <a:srgbClr val="64748B"/>
                </a:solidFill>
              </a:defRPr>
            </a:pPr>
            <a:r>
              <a:t>常規</a:t>
            </a:r>
          </a:p>
        </p:txBody>
      </p:sp>
      <p:sp>
        <p:nvSpPr>
          <p:cNvPr id="12" name="TextBox 11"/>
          <p:cNvSpPr txBox="1"/>
          <p:nvPr/>
        </p:nvSpPr>
        <p:spPr>
          <a:xfrm>
            <a:off x="3909060" y="5833872"/>
            <a:ext cx="1143000" cy="365760"/>
          </a:xfrm>
          <a:prstGeom prst="rect">
            <a:avLst/>
          </a:prstGeom>
          <a:noFill/>
        </p:spPr>
        <p:txBody>
          <a:bodyPr wrap="none">
            <a:spAutoFit/>
          </a:bodyPr>
          <a:lstStyle/>
          <a:p>
            <a:pPr algn="ctr">
              <a:defRPr sz="1200" b="0">
                <a:solidFill>
                  <a:srgbClr val="1F2937"/>
                </a:solidFill>
              </a:defRPr>
            </a:pPr>
            <a:r>
              <a:t>普通生活方式組</a:t>
            </a:r>
          </a:p>
        </p:txBody>
      </p:sp>
      <p:sp>
        <p:nvSpPr>
          <p:cNvPr id="13" name="Rectangle 12"/>
          <p:cNvSpPr/>
          <p:nvPr/>
        </p:nvSpPr>
        <p:spPr>
          <a:xfrm>
            <a:off x="6347460" y="2286000"/>
            <a:ext cx="777240" cy="3474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0300" y="1938528"/>
            <a:ext cx="1051560" cy="320040"/>
          </a:xfrm>
          <a:prstGeom prst="rect">
            <a:avLst/>
          </a:prstGeom>
          <a:noFill/>
        </p:spPr>
        <p:txBody>
          <a:bodyPr wrap="none">
            <a:spAutoFit/>
          </a:bodyPr>
          <a:lstStyle/>
          <a:p>
            <a:pPr algn="ctr">
              <a:defRPr sz="1300" b="1">
                <a:solidFill>
                  <a:srgbClr val="051C2C"/>
                </a:solidFill>
              </a:defRPr>
            </a:pPr>
            <a:r>
              <a:t>7–8 h</a:t>
            </a:r>
          </a:p>
        </p:txBody>
      </p:sp>
      <p:sp>
        <p:nvSpPr>
          <p:cNvPr id="15" name="TextBox 14"/>
          <p:cNvSpPr txBox="1"/>
          <p:nvPr/>
        </p:nvSpPr>
        <p:spPr>
          <a:xfrm>
            <a:off x="6164580" y="5833872"/>
            <a:ext cx="1143000" cy="365760"/>
          </a:xfrm>
          <a:prstGeom prst="rect">
            <a:avLst/>
          </a:prstGeom>
          <a:noFill/>
        </p:spPr>
        <p:txBody>
          <a:bodyPr wrap="none">
            <a:spAutoFit/>
          </a:bodyPr>
          <a:lstStyle/>
          <a:p>
            <a:pPr algn="ctr">
              <a:defRPr sz="1200" b="1">
                <a:solidFill>
                  <a:srgbClr val="051C2C"/>
                </a:solidFill>
              </a:defRPr>
            </a:pPr>
            <a:r>
              <a:t>本講核心干預 (全因死亡率最低的黃金)</a:t>
            </a:r>
          </a:p>
        </p:txBody>
      </p:sp>
      <p:sp>
        <p:nvSpPr>
          <p:cNvPr id="16" name="Rounded Rectangle 15"/>
          <p:cNvSpPr/>
          <p:nvPr/>
        </p:nvSpPr>
        <p:spPr>
          <a:xfrm>
            <a:off x="8229600" y="2011680"/>
            <a:ext cx="3200400" cy="3749039"/>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194560"/>
            <a:ext cx="2834640" cy="3383280"/>
          </a:xfrm>
          <a:prstGeom prst="rect">
            <a:avLst/>
          </a:prstGeom>
          <a:noFill/>
        </p:spPr>
        <p:txBody>
          <a:bodyPr wrap="square">
            <a:spAutoFit/>
          </a:bodyPr>
          <a:lstStyle/>
          <a:p>
            <a:pPr>
              <a:spcAft>
                <a:spcPts val="1000"/>
              </a:spcAft>
              <a:defRPr sz="1500" b="1">
                <a:solidFill>
                  <a:srgbClr val="1E3A8A"/>
                </a:solidFill>
              </a:defRPr>
            </a:pPr>
            <a:r>
              <a:t>② 單一核心證據解析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精準營養與代謝調控  |  第 009 講  ｜  版型 2：並列論法 (Parallel)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12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主張：四格餐盤法以視覺比例取代繁瑣熱量計算，從源頭平抑餐後血糖波動並維持腸道微生態多樣性</a:t>
            </a:r>
          </a:p>
          <a:p>
            <a:pPr>
              <a:defRPr sz="1250">
                <a:solidFill>
                  <a:srgbClr val="64748B"/>
                </a:solidFill>
              </a:defRPr>
            </a:pPr>
            <a:r>
              <a:t>三大平行支柱構成每餐黃金結構，兼具極佳飽腹感與心血管代謝保護</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哈佛公共衛生學院健康飲食餐盤 ｜ 馮雪·家庭健康管理100講 第009講</a:t>
            </a:r>
          </a:p>
        </p:txBody>
      </p:sp>
      <p:sp>
        <p:nvSpPr>
          <p:cNvPr id="7" name="Rounded Rectangle 6"/>
          <p:cNvSpPr/>
          <p:nvPr/>
        </p:nvSpPr>
        <p:spPr>
          <a:xfrm>
            <a:off x="731520"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50% 蔬菜纖維盤 (1/2 面積)</a:t>
            </a:r>
          </a:p>
        </p:txBody>
      </p:sp>
      <p:sp>
        <p:nvSpPr>
          <p:cNvPr id="9" name="TextBox 8"/>
          <p:cNvSpPr txBox="1"/>
          <p:nvPr/>
        </p:nvSpPr>
        <p:spPr>
          <a:xfrm>
            <a:off x="914400" y="2514600"/>
            <a:ext cx="3027578" cy="3520440"/>
          </a:xfrm>
          <a:prstGeom prst="rect">
            <a:avLst/>
          </a:prstGeom>
          <a:noFill/>
        </p:spPr>
        <p:txBody>
          <a:bodyPr wrap="square">
            <a:spAutoFit/>
          </a:bodyPr>
          <a:lstStyle/>
          <a:p>
            <a:pPr>
              <a:spcAft>
                <a:spcPts val="600"/>
              </a:spcAft>
              <a:defRPr sz="1250">
                <a:solidFill>
                  <a:srgbClr val="0F172A"/>
                </a:solidFill>
              </a:defRPr>
            </a:pPr>
            <a:r>
              <a:t>1. • 深綠色葉菜、菌菇、彩椒</a:t>
            </a:r>
          </a:p>
          <a:p>
            <a:pPr>
              <a:spcAft>
                <a:spcPts val="600"/>
              </a:spcAft>
              <a:defRPr sz="1250">
                <a:solidFill>
                  <a:srgbClr val="0F172A"/>
                </a:solidFill>
              </a:defRPr>
            </a:pPr>
            <a:r>
              <a:t>2. • 大量提供植化素與可溶性纖維</a:t>
            </a:r>
          </a:p>
          <a:p>
            <a:pPr>
              <a:spcAft>
                <a:spcPts val="600"/>
              </a:spcAft>
              <a:defRPr sz="1250">
                <a:solidFill>
                  <a:srgbClr val="0F172A"/>
                </a:solidFill>
              </a:defRPr>
            </a:pPr>
            <a:r>
              <a:t>3. • 滋養腸道產生短鏈脂肪酸 (SCFA)</a:t>
            </a:r>
          </a:p>
        </p:txBody>
      </p:sp>
      <p:sp>
        <p:nvSpPr>
          <p:cNvPr id="10" name="Rounded Rectangle 9"/>
          <p:cNvSpPr/>
          <p:nvPr/>
        </p:nvSpPr>
        <p:spPr>
          <a:xfrm>
            <a:off x="4399178"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874519"/>
            <a:ext cx="3393338"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25% 優質蛋白質 (1/4 面積)</a:t>
            </a:r>
          </a:p>
        </p:txBody>
      </p:sp>
      <p:sp>
        <p:nvSpPr>
          <p:cNvPr id="12" name="TextBox 11"/>
          <p:cNvSpPr txBox="1"/>
          <p:nvPr/>
        </p:nvSpPr>
        <p:spPr>
          <a:xfrm>
            <a:off x="4582058" y="2514600"/>
            <a:ext cx="3027578" cy="3520440"/>
          </a:xfrm>
          <a:prstGeom prst="rect">
            <a:avLst/>
          </a:prstGeom>
          <a:noFill/>
        </p:spPr>
        <p:txBody>
          <a:bodyPr wrap="square">
            <a:spAutoFit/>
          </a:bodyPr>
          <a:lstStyle/>
          <a:p>
            <a:pPr>
              <a:spcAft>
                <a:spcPts val="600"/>
              </a:spcAft>
              <a:defRPr sz="1250">
                <a:solidFill>
                  <a:srgbClr val="0F172A"/>
                </a:solidFill>
              </a:defRPr>
            </a:pPr>
            <a:r>
              <a:t>1. • 深海魚、白肉、蛋類、豆製品</a:t>
            </a:r>
          </a:p>
          <a:p>
            <a:pPr>
              <a:spcAft>
                <a:spcPts val="600"/>
              </a:spcAft>
              <a:defRPr sz="1250">
                <a:solidFill>
                  <a:srgbClr val="0F172A"/>
                </a:solidFill>
              </a:defRPr>
            </a:pPr>
            <a:r>
              <a:t>2. • 刺激腸促胰素 GLP-1/PYY 分泌</a:t>
            </a:r>
          </a:p>
          <a:p>
            <a:pPr>
              <a:spcAft>
                <a:spcPts val="600"/>
              </a:spcAft>
              <a:defRPr sz="1250">
                <a:solidFill>
                  <a:srgbClr val="0F172A"/>
                </a:solidFill>
              </a:defRPr>
            </a:pPr>
            <a:r>
              <a:t>3. • 預防少肌症，維持免疫球蛋白</a:t>
            </a:r>
          </a:p>
        </p:txBody>
      </p:sp>
      <p:sp>
        <p:nvSpPr>
          <p:cNvPr id="13" name="Rounded Rectangle 12"/>
          <p:cNvSpPr/>
          <p:nvPr/>
        </p:nvSpPr>
        <p:spPr>
          <a:xfrm>
            <a:off x="8066836"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25% 低升糖慢碳水 (1/4 面積)</a:t>
            </a:r>
          </a:p>
        </p:txBody>
      </p:sp>
      <p:sp>
        <p:nvSpPr>
          <p:cNvPr id="15" name="TextBox 14"/>
          <p:cNvSpPr txBox="1"/>
          <p:nvPr/>
        </p:nvSpPr>
        <p:spPr>
          <a:xfrm>
            <a:off x="8249716" y="2514600"/>
            <a:ext cx="3027578" cy="3520440"/>
          </a:xfrm>
          <a:prstGeom prst="rect">
            <a:avLst/>
          </a:prstGeom>
          <a:noFill/>
        </p:spPr>
        <p:txBody>
          <a:bodyPr wrap="square">
            <a:spAutoFit/>
          </a:bodyPr>
          <a:lstStyle/>
          <a:p>
            <a:pPr>
              <a:spcAft>
                <a:spcPts val="600"/>
              </a:spcAft>
              <a:defRPr sz="1250">
                <a:solidFill>
                  <a:srgbClr val="0F172A"/>
                </a:solidFill>
              </a:defRPr>
            </a:pPr>
            <a:r>
              <a:t>1. • 糙米、燕麥、藜麥、甘薯</a:t>
            </a:r>
          </a:p>
          <a:p>
            <a:pPr>
              <a:spcAft>
                <a:spcPts val="600"/>
              </a:spcAft>
              <a:defRPr sz="1250">
                <a:solidFill>
                  <a:srgbClr val="0F172A"/>
                </a:solidFill>
              </a:defRPr>
            </a:pPr>
            <a:r>
              <a:t>2. • 釋放緩慢穩定的葡萄糖供能</a:t>
            </a:r>
          </a:p>
          <a:p>
            <a:pPr>
              <a:spcAft>
                <a:spcPts val="600"/>
              </a:spcAft>
              <a:defRPr sz="1250">
                <a:solidFill>
                  <a:srgbClr val="0F172A"/>
                </a:solidFill>
              </a:defRPr>
            </a:pPr>
            <a:r>
              <a:t>3. • 避免胰島素驟起暴跌引發嗜睡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運動處方與久坐對抗  |  第 010 講  ｜  版型 1：一對一論法 (One-to-One)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13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① 主張：心肺耐力作為第五大生命體徵對壽命具備最強預測力，日常融入碎片化活動即可大幅提升基礎代謝</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Source: Circulation (AHA Scientific Statement) 2016 ｜ 馮雪·家庭健康管理100講 第010講</a:t>
            </a:r>
          </a:p>
        </p:txBody>
      </p:sp>
      <p:sp>
        <p:nvSpPr>
          <p:cNvPr id="7" name="Rectangle 6"/>
          <p:cNvSpPr/>
          <p:nvPr/>
        </p:nvSpPr>
        <p:spPr>
          <a:xfrm>
            <a:off x="1836420" y="4602480"/>
            <a:ext cx="777240" cy="1158240"/>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9260" y="4255008"/>
            <a:ext cx="1051560" cy="320040"/>
          </a:xfrm>
          <a:prstGeom prst="rect">
            <a:avLst/>
          </a:prstGeom>
          <a:noFill/>
        </p:spPr>
        <p:txBody>
          <a:bodyPr wrap="none">
            <a:spAutoFit/>
          </a:bodyPr>
          <a:lstStyle/>
          <a:p>
            <a:pPr algn="ctr">
              <a:defRPr sz="1100" b="0">
                <a:solidFill>
                  <a:srgbClr val="6B7280"/>
                </a:solidFill>
              </a:defRPr>
            </a:pPr>
            <a:r>
              <a:t>基準線</a:t>
            </a:r>
          </a:p>
        </p:txBody>
      </p:sp>
      <p:sp>
        <p:nvSpPr>
          <p:cNvPr id="9" name="TextBox 8"/>
          <p:cNvSpPr txBox="1"/>
          <p:nvPr/>
        </p:nvSpPr>
        <p:spPr>
          <a:xfrm>
            <a:off x="1653540" y="5833872"/>
            <a:ext cx="1143000" cy="365760"/>
          </a:xfrm>
          <a:prstGeom prst="rect">
            <a:avLst/>
          </a:prstGeom>
          <a:noFill/>
        </p:spPr>
        <p:txBody>
          <a:bodyPr wrap="none">
            <a:spAutoFit/>
          </a:bodyPr>
          <a:lstStyle/>
          <a:p>
            <a:pPr algn="ctr">
              <a:defRPr sz="1200" b="0">
                <a:solidFill>
                  <a:srgbClr val="1F2937"/>
                </a:solidFill>
              </a:defRPr>
            </a:pPr>
            <a:r>
              <a:t>傳統認知 / 忽視基準組</a:t>
            </a:r>
          </a:p>
        </p:txBody>
      </p:sp>
      <p:sp>
        <p:nvSpPr>
          <p:cNvPr id="10" name="Rectangle 9"/>
          <p:cNvSpPr/>
          <p:nvPr/>
        </p:nvSpPr>
        <p:spPr>
          <a:xfrm>
            <a:off x="4091940" y="3637279"/>
            <a:ext cx="777240" cy="2123440"/>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4780" y="3289807"/>
            <a:ext cx="1051560" cy="320040"/>
          </a:xfrm>
          <a:prstGeom prst="rect">
            <a:avLst/>
          </a:prstGeom>
          <a:noFill/>
        </p:spPr>
        <p:txBody>
          <a:bodyPr wrap="none">
            <a:spAutoFit/>
          </a:bodyPr>
          <a:lstStyle/>
          <a:p>
            <a:pPr algn="ctr">
              <a:defRPr sz="1100" b="0">
                <a:solidFill>
                  <a:srgbClr val="6B7280"/>
                </a:solidFill>
              </a:defRPr>
            </a:pPr>
            <a:r>
              <a:t>常規</a:t>
            </a:r>
          </a:p>
        </p:txBody>
      </p:sp>
      <p:sp>
        <p:nvSpPr>
          <p:cNvPr id="12" name="TextBox 11"/>
          <p:cNvSpPr txBox="1"/>
          <p:nvPr/>
        </p:nvSpPr>
        <p:spPr>
          <a:xfrm>
            <a:off x="3909060" y="5833872"/>
            <a:ext cx="1143000" cy="365760"/>
          </a:xfrm>
          <a:prstGeom prst="rect">
            <a:avLst/>
          </a:prstGeom>
          <a:noFill/>
        </p:spPr>
        <p:txBody>
          <a:bodyPr wrap="none">
            <a:spAutoFit/>
          </a:bodyPr>
          <a:lstStyle/>
          <a:p>
            <a:pPr algn="ctr">
              <a:defRPr sz="1200" b="0">
                <a:solidFill>
                  <a:srgbClr val="1F2937"/>
                </a:solidFill>
              </a:defRPr>
            </a:pPr>
            <a:r>
              <a:t>普通生活方式組</a:t>
            </a:r>
          </a:p>
        </p:txBody>
      </p:sp>
      <p:sp>
        <p:nvSpPr>
          <p:cNvPr id="13" name="Rectangle 12"/>
          <p:cNvSpPr/>
          <p:nvPr/>
        </p:nvSpPr>
        <p:spPr>
          <a:xfrm>
            <a:off x="6347460" y="2286000"/>
            <a:ext cx="777240" cy="3474720"/>
          </a:xfrm>
          <a:prstGeom prst="rect">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0300" y="1938528"/>
            <a:ext cx="1051560" cy="320040"/>
          </a:xfrm>
          <a:prstGeom prst="rect">
            <a:avLst/>
          </a:prstGeom>
          <a:noFill/>
        </p:spPr>
        <p:txBody>
          <a:bodyPr wrap="none">
            <a:spAutoFit/>
          </a:bodyPr>
          <a:lstStyle/>
          <a:p>
            <a:pPr algn="ctr">
              <a:defRPr sz="1300" b="1">
                <a:solidFill>
                  <a:srgbClr val="004F32"/>
                </a:solidFill>
              </a:defRPr>
            </a:pPr>
            <a:r>
              <a:t>12–15%</a:t>
            </a:r>
          </a:p>
        </p:txBody>
      </p:sp>
      <p:sp>
        <p:nvSpPr>
          <p:cNvPr id="15" name="TextBox 14"/>
          <p:cNvSpPr txBox="1"/>
          <p:nvPr/>
        </p:nvSpPr>
        <p:spPr>
          <a:xfrm>
            <a:off x="6164580" y="5833872"/>
            <a:ext cx="1143000" cy="365760"/>
          </a:xfrm>
          <a:prstGeom prst="rect">
            <a:avLst/>
          </a:prstGeom>
          <a:noFill/>
        </p:spPr>
        <p:txBody>
          <a:bodyPr wrap="none">
            <a:spAutoFit/>
          </a:bodyPr>
          <a:lstStyle/>
          <a:p>
            <a:pPr algn="ctr">
              <a:defRPr sz="1200" b="1">
                <a:solidFill>
                  <a:srgbClr val="004F32"/>
                </a:solidFill>
              </a:defRPr>
            </a:pPr>
            <a:r>
              <a:t>本講核心干預 (每提升 1 MET )</a:t>
            </a:r>
          </a:p>
        </p:txBody>
      </p:sp>
      <p:sp>
        <p:nvSpPr>
          <p:cNvPr id="16" name="Rounded Rectangle 15"/>
          <p:cNvSpPr/>
          <p:nvPr/>
        </p:nvSpPr>
        <p:spPr>
          <a:xfrm>
            <a:off x="8229600" y="2011680"/>
            <a:ext cx="3200400" cy="3749039"/>
          </a:xfrm>
          <a:prstGeom prst="roundRect">
            <a:avLst/>
          </a:prstGeom>
          <a:solidFill>
            <a:srgbClr val="F3F4F6"/>
          </a:solidFill>
          <a:ln w="1905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194560"/>
            <a:ext cx="2834640" cy="3383280"/>
          </a:xfrm>
          <a:prstGeom prst="rect">
            <a:avLst/>
          </a:prstGeom>
          <a:noFill/>
        </p:spPr>
        <p:txBody>
          <a:bodyPr wrap="square">
            <a:spAutoFit/>
          </a:bodyPr>
          <a:lstStyle/>
          <a:p>
            <a:pPr>
              <a:spcAft>
                <a:spcPts val="1000"/>
              </a:spcAft>
              <a:defRPr sz="1500" b="1">
                <a:solidFill>
                  <a:srgbClr val="177B57"/>
                </a:solidFill>
              </a:defRPr>
            </a:pPr>
            <a:r>
              <a:t>② 單一核心證據解析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運動處方與久坐對抗  |  第 011 講  ｜  版型 5：麥肯錫論法 (McKinsey Matrix)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14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主張：基於 FITT-VP 原則建立每週 150 分鐘有氧＋2 次抗阻結構，是預防少肌症與提升代謝的最優處方</a:t>
            </a:r>
          </a:p>
          <a:p>
            <a:pPr>
              <a:defRPr sz="1250">
                <a:solidFill>
                  <a:srgbClr val="64748B"/>
                </a:solidFill>
              </a:defRPr>
            </a:pPr>
            <a:r>
              <a:t>全球運動醫學通用 FITT-VP 六維模型精準落地指南</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ACSM 運動測試與運動處方指南 ｜ 馮雪·家庭健康管理100講 第011講</a:t>
            </a:r>
          </a:p>
        </p:txBody>
      </p:sp>
      <p:sp>
        <p:nvSpPr>
          <p:cNvPr id="7" name="Chevron 6"/>
          <p:cNvSpPr/>
          <p:nvPr/>
        </p:nvSpPr>
        <p:spPr>
          <a:xfrm>
            <a:off x="2834640"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1：進貨</a:t>
            </a:r>
          </a:p>
        </p:txBody>
      </p:sp>
      <p:sp>
        <p:nvSpPr>
          <p:cNvPr id="8" name="Chevron 7"/>
          <p:cNvSpPr/>
          <p:nvPr/>
        </p:nvSpPr>
        <p:spPr>
          <a:xfrm>
            <a:off x="5770778"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2：製造</a:t>
            </a:r>
          </a:p>
        </p:txBody>
      </p:sp>
      <p:sp>
        <p:nvSpPr>
          <p:cNvPr id="9" name="Chevron 8"/>
          <p:cNvSpPr/>
          <p:nvPr/>
        </p:nvSpPr>
        <p:spPr>
          <a:xfrm>
            <a:off x="8706916"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3：販售</a:t>
            </a:r>
          </a:p>
        </p:txBody>
      </p:sp>
      <p:sp>
        <p:nvSpPr>
          <p:cNvPr id="10" name="Rectangle 9"/>
          <p:cNvSpPr/>
          <p:nvPr/>
        </p:nvSpPr>
        <p:spPr>
          <a:xfrm>
            <a:off x="731520" y="2606040"/>
            <a:ext cx="1920240" cy="11887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1</a:t>
            </a:r>
          </a:p>
        </p:txBody>
      </p:sp>
      <p:sp>
        <p:nvSpPr>
          <p:cNvPr id="11" name="Rounded Rectangle 10"/>
          <p:cNvSpPr/>
          <p:nvPr/>
        </p:nvSpPr>
        <p:spPr>
          <a:xfrm>
            <a:off x="2834640"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743200"/>
            <a:ext cx="2478938" cy="914400"/>
          </a:xfrm>
          <a:prstGeom prst="rect">
            <a:avLst/>
          </a:prstGeom>
          <a:noFill/>
        </p:spPr>
        <p:txBody>
          <a:bodyPr wrap="square">
            <a:spAutoFit/>
          </a:bodyPr>
          <a:lstStyle/>
          <a:p>
            <a:pPr>
              <a:defRPr sz="1250">
                <a:solidFill>
                  <a:srgbClr val="1F2937"/>
                </a:solidFill>
              </a:defRPr>
            </a:pPr>
            <a:r>
              <a:t>—</a:t>
            </a:r>
          </a:p>
        </p:txBody>
      </p:sp>
      <p:sp>
        <p:nvSpPr>
          <p:cNvPr id="13" name="Rounded Rectangle 12"/>
          <p:cNvSpPr/>
          <p:nvPr/>
        </p:nvSpPr>
        <p:spPr>
          <a:xfrm>
            <a:off x="5770778"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938" y="2743200"/>
            <a:ext cx="2478938" cy="914400"/>
          </a:xfrm>
          <a:prstGeom prst="rect">
            <a:avLst/>
          </a:prstGeom>
          <a:noFill/>
        </p:spPr>
        <p:txBody>
          <a:bodyPr wrap="square">
            <a:spAutoFit/>
          </a:bodyPr>
          <a:lstStyle/>
          <a:p>
            <a:pPr>
              <a:defRPr sz="1250">
                <a:solidFill>
                  <a:srgbClr val="1F2937"/>
                </a:solidFill>
              </a:defRPr>
            </a:pPr>
            <a:r>
              <a:t>—</a:t>
            </a:r>
          </a:p>
        </p:txBody>
      </p:sp>
      <p:sp>
        <p:nvSpPr>
          <p:cNvPr id="15" name="Rounded Rectangle 14"/>
          <p:cNvSpPr/>
          <p:nvPr/>
        </p:nvSpPr>
        <p:spPr>
          <a:xfrm>
            <a:off x="8706916"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4076" y="2743200"/>
            <a:ext cx="2478938" cy="914400"/>
          </a:xfrm>
          <a:prstGeom prst="rect">
            <a:avLst/>
          </a:prstGeom>
          <a:noFill/>
        </p:spPr>
        <p:txBody>
          <a:bodyPr wrap="square">
            <a:spAutoFit/>
          </a:bodyPr>
          <a:lstStyle/>
          <a:p>
            <a:pPr>
              <a:defRPr sz="1250">
                <a:solidFill>
                  <a:srgbClr val="1F2937"/>
                </a:solidFill>
              </a:defRPr>
            </a:pPr>
            <a:r>
              <a:t>—</a:t>
            </a:r>
          </a:p>
        </p:txBody>
      </p:sp>
      <p:sp>
        <p:nvSpPr>
          <p:cNvPr id="17" name="Rectangle 16"/>
          <p:cNvSpPr/>
          <p:nvPr/>
        </p:nvSpPr>
        <p:spPr>
          <a:xfrm>
            <a:off x="731520" y="3977639"/>
            <a:ext cx="1920240" cy="11887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2</a:t>
            </a:r>
          </a:p>
        </p:txBody>
      </p:sp>
      <p:sp>
        <p:nvSpPr>
          <p:cNvPr id="18" name="Rounded Rectangle 17"/>
          <p:cNvSpPr/>
          <p:nvPr/>
        </p:nvSpPr>
        <p:spPr>
          <a:xfrm>
            <a:off x="2834640"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4114800"/>
            <a:ext cx="2478938" cy="914400"/>
          </a:xfrm>
          <a:prstGeom prst="rect">
            <a:avLst/>
          </a:prstGeom>
          <a:noFill/>
        </p:spPr>
        <p:txBody>
          <a:bodyPr wrap="square">
            <a:spAutoFit/>
          </a:bodyPr>
          <a:lstStyle/>
          <a:p>
            <a:pPr>
              <a:defRPr sz="1250">
                <a:solidFill>
                  <a:srgbClr val="1F2937"/>
                </a:solidFill>
              </a:defRPr>
            </a:pPr>
            <a:r>
              <a:t>—</a:t>
            </a:r>
          </a:p>
        </p:txBody>
      </p:sp>
      <p:sp>
        <p:nvSpPr>
          <p:cNvPr id="20" name="Rounded Rectangle 19"/>
          <p:cNvSpPr/>
          <p:nvPr/>
        </p:nvSpPr>
        <p:spPr>
          <a:xfrm>
            <a:off x="5770778"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07938" y="4114800"/>
            <a:ext cx="2478938" cy="914400"/>
          </a:xfrm>
          <a:prstGeom prst="rect">
            <a:avLst/>
          </a:prstGeom>
          <a:noFill/>
        </p:spPr>
        <p:txBody>
          <a:bodyPr wrap="square">
            <a:spAutoFit/>
          </a:bodyPr>
          <a:lstStyle/>
          <a:p>
            <a:pPr>
              <a:defRPr sz="1250">
                <a:solidFill>
                  <a:srgbClr val="1F2937"/>
                </a:solidFill>
              </a:defRPr>
            </a:pPr>
            <a:r>
              <a:t>—</a:t>
            </a:r>
          </a:p>
        </p:txBody>
      </p:sp>
      <p:sp>
        <p:nvSpPr>
          <p:cNvPr id="22" name="Rounded Rectangle 21"/>
          <p:cNvSpPr/>
          <p:nvPr/>
        </p:nvSpPr>
        <p:spPr>
          <a:xfrm>
            <a:off x="8706916"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44076" y="4114800"/>
            <a:ext cx="2478938" cy="914400"/>
          </a:xfrm>
          <a:prstGeom prst="rect">
            <a:avLst/>
          </a:prstGeom>
          <a:noFill/>
        </p:spPr>
        <p:txBody>
          <a:bodyPr wrap="square">
            <a:spAutoFit/>
          </a:bodyPr>
          <a:lstStyle/>
          <a:p>
            <a:pPr>
              <a:defRPr sz="1250">
                <a:solidFill>
                  <a:srgbClr val="1F2937"/>
                </a:solidFill>
              </a:defRPr>
            </a:pPr>
            <a:r>
              <a:t>—</a:t>
            </a:r>
          </a:p>
        </p:txBody>
      </p:sp>
      <p:sp>
        <p:nvSpPr>
          <p:cNvPr id="24" name="Rectangle 23"/>
          <p:cNvSpPr/>
          <p:nvPr/>
        </p:nvSpPr>
        <p:spPr>
          <a:xfrm>
            <a:off x="731520" y="5349240"/>
            <a:ext cx="1920240" cy="1188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3</a:t>
            </a:r>
          </a:p>
        </p:txBody>
      </p:sp>
      <p:sp>
        <p:nvSpPr>
          <p:cNvPr id="25" name="Rounded Rectangle 24"/>
          <p:cNvSpPr/>
          <p:nvPr/>
        </p:nvSpPr>
        <p:spPr>
          <a:xfrm>
            <a:off x="2834640"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486400"/>
            <a:ext cx="2478938" cy="914400"/>
          </a:xfrm>
          <a:prstGeom prst="rect">
            <a:avLst/>
          </a:prstGeom>
          <a:noFill/>
        </p:spPr>
        <p:txBody>
          <a:bodyPr wrap="square">
            <a:spAutoFit/>
          </a:bodyPr>
          <a:lstStyle/>
          <a:p>
            <a:pPr>
              <a:defRPr sz="1250">
                <a:solidFill>
                  <a:srgbClr val="1F2937"/>
                </a:solidFill>
              </a:defRPr>
            </a:pPr>
            <a:r>
              <a:t>—</a:t>
            </a:r>
          </a:p>
        </p:txBody>
      </p:sp>
      <p:sp>
        <p:nvSpPr>
          <p:cNvPr id="27" name="Rounded Rectangle 26"/>
          <p:cNvSpPr/>
          <p:nvPr/>
        </p:nvSpPr>
        <p:spPr>
          <a:xfrm>
            <a:off x="5770778"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07938" y="5486400"/>
            <a:ext cx="2478938" cy="914400"/>
          </a:xfrm>
          <a:prstGeom prst="rect">
            <a:avLst/>
          </a:prstGeom>
          <a:noFill/>
        </p:spPr>
        <p:txBody>
          <a:bodyPr wrap="square">
            <a:spAutoFit/>
          </a:bodyPr>
          <a:lstStyle/>
          <a:p>
            <a:pPr>
              <a:defRPr sz="1250">
                <a:solidFill>
                  <a:srgbClr val="1F2937"/>
                </a:solidFill>
              </a:defRPr>
            </a:pPr>
            <a:r>
              <a:t>—</a:t>
            </a:r>
          </a:p>
        </p:txBody>
      </p:sp>
      <p:sp>
        <p:nvSpPr>
          <p:cNvPr id="29" name="Rounded Rectangle 28"/>
          <p:cNvSpPr/>
          <p:nvPr/>
        </p:nvSpPr>
        <p:spPr>
          <a:xfrm>
            <a:off x="8706916"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44076" y="5486400"/>
            <a:ext cx="2478938" cy="914400"/>
          </a:xfrm>
          <a:prstGeom prst="rect">
            <a:avLst/>
          </a:prstGeom>
          <a:noFill/>
        </p:spPr>
        <p:txBody>
          <a:bodyPr wrap="square">
            <a:spAutoFit/>
          </a:bodyPr>
          <a:lstStyle/>
          <a:p>
            <a:pPr>
              <a:defRPr sz="1250">
                <a:solidFill>
                  <a:srgbClr val="1F2937"/>
                </a:solidFill>
              </a:defRPr>
            </a:pP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運動處方與久坐對抗  |  第 011-1 講  ｜  版型 2：並列論法 (Parallel)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15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主張：每日 3 分鐘肌筋膜拉伸能啟動高爾基腱器官反射，逆轉深層肌肉缺血與關節被動受壓</a:t>
            </a:r>
          </a:p>
          <a:p>
            <a:pPr>
              <a:defRPr sz="1250">
                <a:solidFill>
                  <a:srgbClr val="64748B"/>
                </a:solidFill>
              </a:defRPr>
            </a:pPr>
            <a:r>
              <a:t>針對久坐重災區（頸肩、胸椎、髖屈肌）的三大場景精準釋壓動作</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馮雪·家庭健康管理100講 加餐篇 ｜ 運動醫學肌筋膜伸展規範</a:t>
            </a:r>
          </a:p>
        </p:txBody>
      </p:sp>
      <p:sp>
        <p:nvSpPr>
          <p:cNvPr id="7" name="Rounded Rectangle 6"/>
          <p:cNvSpPr/>
          <p:nvPr/>
        </p:nvSpPr>
        <p:spPr>
          <a:xfrm>
            <a:off x="731520"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頸胸後仰上撐 (15–30 秒 / 組)</a:t>
            </a:r>
          </a:p>
        </p:txBody>
      </p:sp>
      <p:sp>
        <p:nvSpPr>
          <p:cNvPr id="9" name="TextBox 8"/>
          <p:cNvSpPr txBox="1"/>
          <p:nvPr/>
        </p:nvSpPr>
        <p:spPr>
          <a:xfrm>
            <a:off x="914400" y="2514600"/>
            <a:ext cx="3027578" cy="3520440"/>
          </a:xfrm>
          <a:prstGeom prst="rect">
            <a:avLst/>
          </a:prstGeom>
          <a:noFill/>
        </p:spPr>
        <p:txBody>
          <a:bodyPr wrap="square">
            <a:spAutoFit/>
          </a:bodyPr>
          <a:lstStyle/>
          <a:p>
            <a:pPr>
              <a:spcAft>
                <a:spcPts val="600"/>
              </a:spcAft>
              <a:defRPr sz="1250">
                <a:solidFill>
                  <a:srgbClr val="0F172A"/>
                </a:solidFill>
              </a:defRPr>
            </a:pPr>
            <a:r>
              <a:t>1. • 雙手叉腰沉肩，胸椎頸椎充分後展</a:t>
            </a:r>
          </a:p>
          <a:p>
            <a:pPr>
              <a:spcAft>
                <a:spcPts val="600"/>
              </a:spcAft>
              <a:defRPr sz="1250">
                <a:solidFill>
                  <a:srgbClr val="0F172A"/>
                </a:solidFill>
              </a:defRPr>
            </a:pPr>
            <a:r>
              <a:t>2. • 雙手合十垂直上推掌心向天</a:t>
            </a:r>
          </a:p>
          <a:p>
            <a:pPr>
              <a:spcAft>
                <a:spcPts val="600"/>
              </a:spcAft>
              <a:defRPr sz="1250">
                <a:solidFill>
                  <a:srgbClr val="0F172A"/>
                </a:solidFill>
              </a:defRPr>
            </a:pPr>
            <a:r>
              <a:t>3. • 逆轉低頭族頸椎生理曲度變直</a:t>
            </a:r>
          </a:p>
        </p:txBody>
      </p:sp>
      <p:sp>
        <p:nvSpPr>
          <p:cNvPr id="10" name="Rounded Rectangle 9"/>
          <p:cNvSpPr/>
          <p:nvPr/>
        </p:nvSpPr>
        <p:spPr>
          <a:xfrm>
            <a:off x="4399178"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874519"/>
            <a:ext cx="3393338"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軀幹側屈轉體 (雙側交替 3 次)</a:t>
            </a:r>
          </a:p>
        </p:txBody>
      </p:sp>
      <p:sp>
        <p:nvSpPr>
          <p:cNvPr id="12" name="TextBox 11"/>
          <p:cNvSpPr txBox="1"/>
          <p:nvPr/>
        </p:nvSpPr>
        <p:spPr>
          <a:xfrm>
            <a:off x="4582058" y="2514600"/>
            <a:ext cx="3027578" cy="3520440"/>
          </a:xfrm>
          <a:prstGeom prst="rect">
            <a:avLst/>
          </a:prstGeom>
          <a:noFill/>
        </p:spPr>
        <p:txBody>
          <a:bodyPr wrap="square">
            <a:spAutoFit/>
          </a:bodyPr>
          <a:lstStyle/>
          <a:p>
            <a:pPr>
              <a:spcAft>
                <a:spcPts val="600"/>
              </a:spcAft>
              <a:defRPr sz="1250">
                <a:solidFill>
                  <a:srgbClr val="0F172A"/>
                </a:solidFill>
              </a:defRPr>
            </a:pPr>
            <a:r>
              <a:t>1. • 骨盆固定，坐姿旋轉胸廓</a:t>
            </a:r>
          </a:p>
          <a:p>
            <a:pPr>
              <a:spcAft>
                <a:spcPts val="600"/>
              </a:spcAft>
              <a:defRPr sz="1250">
                <a:solidFill>
                  <a:srgbClr val="0F172A"/>
                </a:solidFill>
              </a:defRPr>
            </a:pPr>
            <a:r>
              <a:t>2. • 釋放腰方肌與背闊肌持續痙攣</a:t>
            </a:r>
          </a:p>
          <a:p>
            <a:pPr>
              <a:spcAft>
                <a:spcPts val="600"/>
              </a:spcAft>
              <a:defRPr sz="1250">
                <a:solidFill>
                  <a:srgbClr val="0F172A"/>
                </a:solidFill>
              </a:defRPr>
            </a:pPr>
            <a:r>
              <a:t>3. • 滋潤椎間盤滑液滲透</a:t>
            </a:r>
          </a:p>
        </p:txBody>
      </p:sp>
      <p:sp>
        <p:nvSpPr>
          <p:cNvPr id="13" name="Rounded Rectangle 12"/>
          <p:cNvSpPr/>
          <p:nvPr/>
        </p:nvSpPr>
        <p:spPr>
          <a:xfrm>
            <a:off x="8066836"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立姿伸髖擴胸 (深慢呼氣維持)</a:t>
            </a:r>
          </a:p>
        </p:txBody>
      </p:sp>
      <p:sp>
        <p:nvSpPr>
          <p:cNvPr id="15" name="TextBox 14"/>
          <p:cNvSpPr txBox="1"/>
          <p:nvPr/>
        </p:nvSpPr>
        <p:spPr>
          <a:xfrm>
            <a:off x="8249716" y="2514600"/>
            <a:ext cx="3027578" cy="3520440"/>
          </a:xfrm>
          <a:prstGeom prst="rect">
            <a:avLst/>
          </a:prstGeom>
          <a:noFill/>
        </p:spPr>
        <p:txBody>
          <a:bodyPr wrap="square">
            <a:spAutoFit/>
          </a:bodyPr>
          <a:lstStyle/>
          <a:p>
            <a:pPr>
              <a:spcAft>
                <a:spcPts val="600"/>
              </a:spcAft>
              <a:defRPr sz="1250">
                <a:solidFill>
                  <a:srgbClr val="0F172A"/>
                </a:solidFill>
              </a:defRPr>
            </a:pPr>
            <a:r>
              <a:t>1. • T 字展臂擠壓肩胛骨中下斜方肌</a:t>
            </a:r>
          </a:p>
          <a:p>
            <a:pPr>
              <a:spcAft>
                <a:spcPts val="600"/>
              </a:spcAft>
              <a:defRPr sz="1250">
                <a:solidFill>
                  <a:srgbClr val="0F172A"/>
                </a:solidFill>
              </a:defRPr>
            </a:pPr>
            <a:r>
              <a:t>2. • 提踵拉伸髂腰肌與股四頭肌</a:t>
            </a:r>
          </a:p>
          <a:p>
            <a:pPr>
              <a:spcAft>
                <a:spcPts val="600"/>
              </a:spcAft>
              <a:defRPr sz="1250">
                <a:solidFill>
                  <a:srgbClr val="0F172A"/>
                </a:solidFill>
              </a:defRPr>
            </a:pPr>
            <a:r>
              <a:t>3. • 阻斷骨盆前傾引發的下背酸痛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環境防禦與屏障護理  |  第 011-2 講  ｜  版型 3：結合論法 (Combined Tree)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16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主張：秋冬呼吸道高發源於「免疫債償還＋黏膜纖毛低溫活性下降」，需透過疫苗與環境換氣構建雙重防線</a:t>
            </a:r>
          </a:p>
          <a:p>
            <a:pPr>
              <a:defRPr sz="1250">
                <a:solidFill>
                  <a:srgbClr val="64748B"/>
                </a:solidFill>
              </a:defRPr>
            </a:pPr>
            <a:r>
              <a:t>多維臨床要素疊加導致集體易感，必須以系統工程手段阻斷傳播</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The Lancet Infectious Diseases ｜ 馮雪·家庭健康管理100講 加餐篇</a:t>
            </a:r>
          </a:p>
        </p:txBody>
      </p:sp>
      <p:sp>
        <p:nvSpPr>
          <p:cNvPr id="7" name="Rounded Rectangle 6"/>
          <p:cNvSpPr/>
          <p:nvPr/>
        </p:nvSpPr>
        <p:spPr>
          <a:xfrm>
            <a:off x="2011680" y="1783080"/>
            <a:ext cx="8138160" cy="731520"/>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 系統解法：以「疫苗主動刺激」＋「環境對流稀釋」阻斷易感窗口期</a:t>
            </a:r>
          </a:p>
        </p:txBody>
      </p:sp>
      <p:sp>
        <p:nvSpPr>
          <p:cNvPr id="8" name="Rounded Rectangle 7"/>
          <p:cNvSpPr/>
          <p:nvPr/>
        </p:nvSpPr>
        <p:spPr>
          <a:xfrm>
            <a:off x="73152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內在宿主因素：易感性峰值</a:t>
            </a:r>
          </a:p>
        </p:txBody>
      </p:sp>
      <p:sp>
        <p:nvSpPr>
          <p:cNvPr id="9" name="Rounded Rectangle 8"/>
          <p:cNvSpPr/>
          <p:nvPr/>
        </p:nvSpPr>
        <p:spPr>
          <a:xfrm>
            <a:off x="731520"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1456944" cy="2103120"/>
          </a:xfrm>
          <a:prstGeom prst="rect">
            <a:avLst/>
          </a:prstGeom>
          <a:noFill/>
        </p:spPr>
        <p:txBody>
          <a:bodyPr wrap="square">
            <a:spAutoFit/>
          </a:bodyPr>
          <a:lstStyle/>
          <a:p>
            <a:pPr>
              <a:defRPr sz="1150">
                <a:solidFill>
                  <a:srgbClr val="1F2937"/>
                </a:solidFill>
              </a:defRPr>
            </a:pPr>
            <a:r>
              <a:t>• 免疫債到期：長期隔離導致人群抗體滴度整體衰減</a:t>
            </a:r>
          </a:p>
        </p:txBody>
      </p:sp>
      <p:sp>
        <p:nvSpPr>
          <p:cNvPr id="11" name="Rounded Rectangle 10"/>
          <p:cNvSpPr/>
          <p:nvPr/>
        </p:nvSpPr>
        <p:spPr>
          <a:xfrm>
            <a:off x="2508504"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9944" y="3931920"/>
            <a:ext cx="1456944" cy="2103120"/>
          </a:xfrm>
          <a:prstGeom prst="rect">
            <a:avLst/>
          </a:prstGeom>
          <a:noFill/>
        </p:spPr>
        <p:txBody>
          <a:bodyPr wrap="square">
            <a:spAutoFit/>
          </a:bodyPr>
          <a:lstStyle/>
          <a:p>
            <a:pPr>
              <a:defRPr sz="1150">
                <a:solidFill>
                  <a:srgbClr val="1F2937"/>
                </a:solidFill>
              </a:defRPr>
            </a:pPr>
            <a:r>
              <a:t>• 黏膜屏障低溫失活：鼻腔溫度下降使纖毛清除率腰斬</a:t>
            </a:r>
          </a:p>
        </p:txBody>
      </p:sp>
      <p:sp>
        <p:nvSpPr>
          <p:cNvPr id="13" name="Rounded Rectangle 12"/>
          <p:cNvSpPr/>
          <p:nvPr/>
        </p:nvSpPr>
        <p:spPr>
          <a:xfrm>
            <a:off x="4285488"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6928" y="3931920"/>
            <a:ext cx="1456944" cy="2103120"/>
          </a:xfrm>
          <a:prstGeom prst="rect">
            <a:avLst/>
          </a:prstGeom>
          <a:noFill/>
        </p:spPr>
        <p:txBody>
          <a:bodyPr wrap="square">
            <a:spAutoFit/>
          </a:bodyPr>
          <a:lstStyle/>
          <a:p>
            <a:pPr>
              <a:defRPr sz="1150">
                <a:solidFill>
                  <a:srgbClr val="1F2937"/>
                </a:solidFill>
              </a:defRPr>
            </a:pPr>
            <a:r>
              <a:t>• 免疫屏障對策：早接種流感疫苗＋保障充足睡眠</a:t>
            </a:r>
          </a:p>
        </p:txBody>
      </p:sp>
      <p:sp>
        <p:nvSpPr>
          <p:cNvPr id="15" name="Rounded Rectangle 14"/>
          <p:cNvSpPr/>
          <p:nvPr/>
        </p:nvSpPr>
        <p:spPr>
          <a:xfrm>
            <a:off x="626364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外在環境因素：氣溶膠聚集</a:t>
            </a:r>
          </a:p>
        </p:txBody>
      </p:sp>
      <p:sp>
        <p:nvSpPr>
          <p:cNvPr id="16" name="Rounded Rectangle 15"/>
          <p:cNvSpPr/>
          <p:nvPr/>
        </p:nvSpPr>
        <p:spPr>
          <a:xfrm>
            <a:off x="6263640"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931920"/>
            <a:ext cx="1456944" cy="2103120"/>
          </a:xfrm>
          <a:prstGeom prst="rect">
            <a:avLst/>
          </a:prstGeom>
          <a:noFill/>
        </p:spPr>
        <p:txBody>
          <a:bodyPr wrap="square">
            <a:spAutoFit/>
          </a:bodyPr>
          <a:lstStyle/>
          <a:p>
            <a:pPr>
              <a:defRPr sz="1150">
                <a:solidFill>
                  <a:srgbClr val="1F2937"/>
                </a:solidFill>
              </a:defRPr>
            </a:pPr>
            <a:r>
              <a:t>• 密閉空間換氣不足：室內病毒微顆粒懸浮數小時不散</a:t>
            </a:r>
          </a:p>
        </p:txBody>
      </p:sp>
      <p:sp>
        <p:nvSpPr>
          <p:cNvPr id="18" name="Rounded Rectangle 17"/>
          <p:cNvSpPr/>
          <p:nvPr/>
        </p:nvSpPr>
        <p:spPr>
          <a:xfrm>
            <a:off x="8040624"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2063" y="3931920"/>
            <a:ext cx="1456944" cy="2103120"/>
          </a:xfrm>
          <a:prstGeom prst="rect">
            <a:avLst/>
          </a:prstGeom>
          <a:noFill/>
        </p:spPr>
        <p:txBody>
          <a:bodyPr wrap="square">
            <a:spAutoFit/>
          </a:bodyPr>
          <a:lstStyle/>
          <a:p>
            <a:pPr>
              <a:defRPr sz="1150">
                <a:solidFill>
                  <a:srgbClr val="1F2937"/>
                </a:solidFill>
              </a:defRPr>
            </a:pPr>
            <a:r>
              <a:t>• 乾燥低濕加速病毒存活：相對濕度低於 40% 有利病毒傳播</a:t>
            </a:r>
          </a:p>
        </p:txBody>
      </p:sp>
      <p:sp>
        <p:nvSpPr>
          <p:cNvPr id="20" name="Rounded Rectangle 19"/>
          <p:cNvSpPr/>
          <p:nvPr/>
        </p:nvSpPr>
        <p:spPr>
          <a:xfrm>
            <a:off x="9817608"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9048" y="3931920"/>
            <a:ext cx="1456944" cy="2103120"/>
          </a:xfrm>
          <a:prstGeom prst="rect">
            <a:avLst/>
          </a:prstGeom>
          <a:noFill/>
        </p:spPr>
        <p:txBody>
          <a:bodyPr wrap="square">
            <a:spAutoFit/>
          </a:bodyPr>
          <a:lstStyle/>
          <a:p>
            <a:pPr>
              <a:defRPr sz="1150">
                <a:solidFill>
                  <a:srgbClr val="1F2937"/>
                </a:solidFill>
              </a:defRPr>
            </a:pPr>
            <a:r>
              <a:t>• 物理防護對策：每日 3 次開窗通風＋公共場所規範佩戴口罩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精準營養與代謝調控  |  第 012 講  ｜  版型 6：對立論法 (Opposition)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17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① 主張：飲食最硬核的底線是「回歸原型天然」，嚴格限制超加工食品以阻斷下丘腦致癮與全身微炎癥</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Source: Cell Metabolism (Hall et al.) ｜ 馮雪·家庭健康管理100講 第012講</a:t>
            </a:r>
          </a:p>
        </p:txBody>
      </p:sp>
      <p:sp>
        <p:nvSpPr>
          <p:cNvPr id="7" name="Rectangle 6"/>
          <p:cNvSpPr/>
          <p:nvPr/>
        </p:nvSpPr>
        <p:spPr>
          <a:xfrm>
            <a:off x="2651760" y="1828800"/>
            <a:ext cx="4297680" cy="502920"/>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超加工食品 (UPF / NOVA 4)</a:t>
            </a:r>
          </a:p>
        </p:txBody>
      </p:sp>
      <p:sp>
        <p:nvSpPr>
          <p:cNvPr id="8" name="Rectangle 7"/>
          <p:cNvSpPr/>
          <p:nvPr/>
        </p:nvSpPr>
        <p:spPr>
          <a:xfrm>
            <a:off x="7132320" y="1828800"/>
            <a:ext cx="4297680" cy="50292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天然原型食品 (Whole Foods / NOVA 1) ★</a:t>
            </a:r>
          </a:p>
        </p:txBody>
      </p:sp>
      <p:sp>
        <p:nvSpPr>
          <p:cNvPr id="9" name="Oval 8"/>
          <p:cNvSpPr/>
          <p:nvPr/>
        </p:nvSpPr>
        <p:spPr>
          <a:xfrm>
            <a:off x="731520" y="2468880"/>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加工特徵</a:t>
            </a:r>
          </a:p>
        </p:txBody>
      </p:sp>
      <p:sp>
        <p:nvSpPr>
          <p:cNvPr id="10" name="Rounded Rectangle 9"/>
          <p:cNvSpPr/>
          <p:nvPr/>
        </p:nvSpPr>
        <p:spPr>
          <a:xfrm>
            <a:off x="2651760" y="2468880"/>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42032"/>
            <a:ext cx="4023360" cy="722375"/>
          </a:xfrm>
          <a:prstGeom prst="rect">
            <a:avLst/>
          </a:prstGeom>
          <a:noFill/>
        </p:spPr>
        <p:txBody>
          <a:bodyPr wrap="square">
            <a:spAutoFit/>
          </a:bodyPr>
          <a:lstStyle/>
          <a:p>
            <a:pPr>
              <a:defRPr sz="1200">
                <a:solidFill>
                  <a:srgbClr val="1F2937"/>
                </a:solidFill>
              </a:defRPr>
            </a:pPr>
            <a:r>
              <a:t>深度工業萃取＋香精、色素、乳化劑等 5+ 種添加</a:t>
            </a:r>
          </a:p>
        </p:txBody>
      </p:sp>
      <p:sp>
        <p:nvSpPr>
          <p:cNvPr id="12" name="Rounded Rectangle 11"/>
          <p:cNvSpPr/>
          <p:nvPr/>
        </p:nvSpPr>
        <p:spPr>
          <a:xfrm>
            <a:off x="7132320" y="2468880"/>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542032"/>
            <a:ext cx="4023360" cy="722375"/>
          </a:xfrm>
          <a:prstGeom prst="rect">
            <a:avLst/>
          </a:prstGeom>
          <a:noFill/>
        </p:spPr>
        <p:txBody>
          <a:bodyPr wrap="square">
            <a:spAutoFit/>
          </a:bodyPr>
          <a:lstStyle/>
          <a:p>
            <a:pPr>
              <a:defRPr sz="1200">
                <a:solidFill>
                  <a:srgbClr val="1F2937"/>
                </a:solidFill>
              </a:defRPr>
            </a:pPr>
            <a:r>
              <a:t>保留植物或動物原始外觀與完整細胞壁結構</a:t>
            </a:r>
          </a:p>
        </p:txBody>
      </p:sp>
      <p:sp>
        <p:nvSpPr>
          <p:cNvPr id="14" name="Oval 13"/>
          <p:cNvSpPr/>
          <p:nvPr/>
        </p:nvSpPr>
        <p:spPr>
          <a:xfrm>
            <a:off x="731520" y="3447288"/>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大腦中樞信號</a:t>
            </a:r>
          </a:p>
        </p:txBody>
      </p:sp>
      <p:sp>
        <p:nvSpPr>
          <p:cNvPr id="15" name="Rounded Rectangle 14"/>
          <p:cNvSpPr/>
          <p:nvPr/>
        </p:nvSpPr>
        <p:spPr>
          <a:xfrm>
            <a:off x="2651760" y="3447288"/>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20440"/>
            <a:ext cx="4023360" cy="722375"/>
          </a:xfrm>
          <a:prstGeom prst="rect">
            <a:avLst/>
          </a:prstGeom>
          <a:noFill/>
        </p:spPr>
        <p:txBody>
          <a:bodyPr wrap="square">
            <a:spAutoFit/>
          </a:bodyPr>
          <a:lstStyle/>
          <a:p>
            <a:pPr>
              <a:defRPr sz="1200">
                <a:solidFill>
                  <a:srgbClr val="1F2937"/>
                </a:solidFill>
              </a:defRPr>
            </a:pPr>
            <a:r>
              <a:t>高糖脂黃金致癮比劫持多巴胺，飽腹感反饋失效</a:t>
            </a:r>
          </a:p>
        </p:txBody>
      </p:sp>
      <p:sp>
        <p:nvSpPr>
          <p:cNvPr id="17" name="Rounded Rectangle 16"/>
          <p:cNvSpPr/>
          <p:nvPr/>
        </p:nvSpPr>
        <p:spPr>
          <a:xfrm>
            <a:off x="7132320" y="3447288"/>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3520440"/>
            <a:ext cx="4023360" cy="722375"/>
          </a:xfrm>
          <a:prstGeom prst="rect">
            <a:avLst/>
          </a:prstGeom>
          <a:noFill/>
        </p:spPr>
        <p:txBody>
          <a:bodyPr wrap="square">
            <a:spAutoFit/>
          </a:bodyPr>
          <a:lstStyle/>
          <a:p>
            <a:pPr>
              <a:defRPr sz="1200">
                <a:solidFill>
                  <a:srgbClr val="1F2937"/>
                </a:solidFill>
              </a:defRPr>
            </a:pPr>
            <a:r>
              <a:t>完整纖維與蛋白質刺激 GLP-1/PYY 正常分泌</a:t>
            </a:r>
          </a:p>
        </p:txBody>
      </p:sp>
      <p:sp>
        <p:nvSpPr>
          <p:cNvPr id="19" name="Oval 18"/>
          <p:cNvSpPr/>
          <p:nvPr/>
        </p:nvSpPr>
        <p:spPr>
          <a:xfrm>
            <a:off x="731520" y="4425696"/>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人體代謝結局</a:t>
            </a:r>
          </a:p>
        </p:txBody>
      </p:sp>
      <p:sp>
        <p:nvSpPr>
          <p:cNvPr id="20" name="Rounded Rectangle 19"/>
          <p:cNvSpPr/>
          <p:nvPr/>
        </p:nvSpPr>
        <p:spPr>
          <a:xfrm>
            <a:off x="2651760" y="4425696"/>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498848"/>
            <a:ext cx="4023360" cy="722375"/>
          </a:xfrm>
          <a:prstGeom prst="rect">
            <a:avLst/>
          </a:prstGeom>
          <a:noFill/>
        </p:spPr>
        <p:txBody>
          <a:bodyPr wrap="square">
            <a:spAutoFit/>
          </a:bodyPr>
          <a:lstStyle/>
          <a:p>
            <a:pPr>
              <a:defRPr sz="1200">
                <a:solidFill>
                  <a:srgbClr val="1F2937"/>
                </a:solidFill>
              </a:defRPr>
            </a:pPr>
            <a:r>
              <a:t>每日無意識多吃 500 kcal，腸道菌群失調與微炎癥</a:t>
            </a:r>
          </a:p>
        </p:txBody>
      </p:sp>
      <p:sp>
        <p:nvSpPr>
          <p:cNvPr id="22" name="Rounded Rectangle 21"/>
          <p:cNvSpPr/>
          <p:nvPr/>
        </p:nvSpPr>
        <p:spPr>
          <a:xfrm>
            <a:off x="7132320" y="4425696"/>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4498848"/>
            <a:ext cx="4023360" cy="722375"/>
          </a:xfrm>
          <a:prstGeom prst="rect">
            <a:avLst/>
          </a:prstGeom>
          <a:noFill/>
        </p:spPr>
        <p:txBody>
          <a:bodyPr wrap="square">
            <a:spAutoFit/>
          </a:bodyPr>
          <a:lstStyle/>
          <a:p>
            <a:pPr>
              <a:defRPr sz="1200">
                <a:solidFill>
                  <a:srgbClr val="1F2937"/>
                </a:solidFill>
              </a:defRPr>
            </a:pPr>
            <a:r>
              <a:t>能量代謝平穩，短鏈脂肪酸充沛，內皮功能受損下降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自律神經與深慢呼吸  |  第 013 講  ｜  版型 1：一對一論法 (One-to-One)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18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主張：深慢呼吸是人體唯一可主動調控副交感神經的生理開關，透過延長呼氣能即刻啟動心血管鎮靜反射</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Frontiers in Public Health ｜ 馮雪·家庭健康管理100講 第013講</a:t>
            </a:r>
          </a:p>
        </p:txBody>
      </p:sp>
      <p:sp>
        <p:nvSpPr>
          <p:cNvPr id="7" name="Rectangle 6"/>
          <p:cNvSpPr/>
          <p:nvPr/>
        </p:nvSpPr>
        <p:spPr>
          <a:xfrm>
            <a:off x="1836420" y="4602480"/>
            <a:ext cx="777240" cy="1158240"/>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9260" y="4255008"/>
            <a:ext cx="1051560" cy="320040"/>
          </a:xfrm>
          <a:prstGeom prst="rect">
            <a:avLst/>
          </a:prstGeom>
          <a:noFill/>
        </p:spPr>
        <p:txBody>
          <a:bodyPr wrap="none">
            <a:spAutoFit/>
          </a:bodyPr>
          <a:lstStyle/>
          <a:p>
            <a:pPr algn="ctr">
              <a:defRPr sz="1100" b="0">
                <a:solidFill>
                  <a:srgbClr val="64748B"/>
                </a:solidFill>
              </a:defRPr>
            </a:pPr>
            <a:r>
              <a:t>基準線</a:t>
            </a:r>
          </a:p>
        </p:txBody>
      </p:sp>
      <p:sp>
        <p:nvSpPr>
          <p:cNvPr id="9" name="TextBox 8"/>
          <p:cNvSpPr txBox="1"/>
          <p:nvPr/>
        </p:nvSpPr>
        <p:spPr>
          <a:xfrm>
            <a:off x="1653540" y="5833872"/>
            <a:ext cx="1143000" cy="365760"/>
          </a:xfrm>
          <a:prstGeom prst="rect">
            <a:avLst/>
          </a:prstGeom>
          <a:noFill/>
        </p:spPr>
        <p:txBody>
          <a:bodyPr wrap="none">
            <a:spAutoFit/>
          </a:bodyPr>
          <a:lstStyle/>
          <a:p>
            <a:pPr algn="ctr">
              <a:defRPr sz="1200" b="0">
                <a:solidFill>
                  <a:srgbClr val="1F2937"/>
                </a:solidFill>
              </a:defRPr>
            </a:pPr>
            <a:r>
              <a:t>傳統認知 / 忽視基準組</a:t>
            </a:r>
          </a:p>
        </p:txBody>
      </p:sp>
      <p:sp>
        <p:nvSpPr>
          <p:cNvPr id="10" name="Rectangle 9"/>
          <p:cNvSpPr/>
          <p:nvPr/>
        </p:nvSpPr>
        <p:spPr>
          <a:xfrm>
            <a:off x="4091940" y="3637279"/>
            <a:ext cx="777240" cy="2123440"/>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4780" y="3289807"/>
            <a:ext cx="1051560" cy="320040"/>
          </a:xfrm>
          <a:prstGeom prst="rect">
            <a:avLst/>
          </a:prstGeom>
          <a:noFill/>
        </p:spPr>
        <p:txBody>
          <a:bodyPr wrap="none">
            <a:spAutoFit/>
          </a:bodyPr>
          <a:lstStyle/>
          <a:p>
            <a:pPr algn="ctr">
              <a:defRPr sz="1100" b="0">
                <a:solidFill>
                  <a:srgbClr val="64748B"/>
                </a:solidFill>
              </a:defRPr>
            </a:pPr>
            <a:r>
              <a:t>常規</a:t>
            </a:r>
          </a:p>
        </p:txBody>
      </p:sp>
      <p:sp>
        <p:nvSpPr>
          <p:cNvPr id="12" name="TextBox 11"/>
          <p:cNvSpPr txBox="1"/>
          <p:nvPr/>
        </p:nvSpPr>
        <p:spPr>
          <a:xfrm>
            <a:off x="3909060" y="5833872"/>
            <a:ext cx="1143000" cy="365760"/>
          </a:xfrm>
          <a:prstGeom prst="rect">
            <a:avLst/>
          </a:prstGeom>
          <a:noFill/>
        </p:spPr>
        <p:txBody>
          <a:bodyPr wrap="none">
            <a:spAutoFit/>
          </a:bodyPr>
          <a:lstStyle/>
          <a:p>
            <a:pPr algn="ctr">
              <a:defRPr sz="1200" b="0">
                <a:solidFill>
                  <a:srgbClr val="1F2937"/>
                </a:solidFill>
              </a:defRPr>
            </a:pPr>
            <a:r>
              <a:t>普通生活方式組</a:t>
            </a:r>
          </a:p>
        </p:txBody>
      </p:sp>
      <p:sp>
        <p:nvSpPr>
          <p:cNvPr id="13" name="Rectangle 12"/>
          <p:cNvSpPr/>
          <p:nvPr/>
        </p:nvSpPr>
        <p:spPr>
          <a:xfrm>
            <a:off x="6347460" y="2286000"/>
            <a:ext cx="777240" cy="3474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0300" y="1938528"/>
            <a:ext cx="1051560" cy="320040"/>
          </a:xfrm>
          <a:prstGeom prst="rect">
            <a:avLst/>
          </a:prstGeom>
          <a:noFill/>
        </p:spPr>
        <p:txBody>
          <a:bodyPr wrap="none">
            <a:spAutoFit/>
          </a:bodyPr>
          <a:lstStyle/>
          <a:p>
            <a:pPr algn="ctr">
              <a:defRPr sz="1300" b="1">
                <a:solidFill>
                  <a:srgbClr val="051C2C"/>
                </a:solidFill>
              </a:defRPr>
            </a:pPr>
            <a:r>
              <a:t>6 次/分</a:t>
            </a:r>
          </a:p>
        </p:txBody>
      </p:sp>
      <p:sp>
        <p:nvSpPr>
          <p:cNvPr id="15" name="TextBox 14"/>
          <p:cNvSpPr txBox="1"/>
          <p:nvPr/>
        </p:nvSpPr>
        <p:spPr>
          <a:xfrm>
            <a:off x="6164580" y="5833872"/>
            <a:ext cx="1143000" cy="365760"/>
          </a:xfrm>
          <a:prstGeom prst="rect">
            <a:avLst/>
          </a:prstGeom>
          <a:noFill/>
        </p:spPr>
        <p:txBody>
          <a:bodyPr wrap="none">
            <a:spAutoFit/>
          </a:bodyPr>
          <a:lstStyle/>
          <a:p>
            <a:pPr algn="ctr">
              <a:defRPr sz="1200" b="1">
                <a:solidFill>
                  <a:srgbClr val="051C2C"/>
                </a:solidFill>
              </a:defRPr>
            </a:pPr>
            <a:r>
              <a:t>本講核心干預 (觸發心率變異度 (H)</a:t>
            </a:r>
          </a:p>
        </p:txBody>
      </p:sp>
      <p:sp>
        <p:nvSpPr>
          <p:cNvPr id="16" name="Rounded Rectangle 15"/>
          <p:cNvSpPr/>
          <p:nvPr/>
        </p:nvSpPr>
        <p:spPr>
          <a:xfrm>
            <a:off x="8229600" y="2011680"/>
            <a:ext cx="3200400" cy="3749039"/>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194560"/>
            <a:ext cx="2834640" cy="3383280"/>
          </a:xfrm>
          <a:prstGeom prst="rect">
            <a:avLst/>
          </a:prstGeom>
          <a:noFill/>
        </p:spPr>
        <p:txBody>
          <a:bodyPr wrap="square">
            <a:spAutoFit/>
          </a:bodyPr>
          <a:lstStyle/>
          <a:p>
            <a:pPr>
              <a:spcAft>
                <a:spcPts val="1000"/>
              </a:spcAft>
              <a:defRPr sz="1500" b="1">
                <a:solidFill>
                  <a:srgbClr val="1E3A8A"/>
                </a:solidFill>
              </a:defRPr>
            </a:pPr>
            <a:r>
              <a:t>② 單一核心證據解析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精準營養與代謝調控  |  第 014 講  ｜  版型 4：連鎖論法 (Chain / Flow)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19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主張：16:8 間歇性輕斷食透過暫停外源供能激活細胞自噬與 AMPK 通路，實現生理層面的抗衰清理</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New England Journal of Medicine (NEJM) 2019 ｜ 馮雪·家庭健康管理100講 第014講</a:t>
            </a:r>
          </a:p>
        </p:txBody>
      </p:sp>
      <p:sp>
        <p:nvSpPr>
          <p:cNvPr id="7" name="Right Arrow 6"/>
          <p:cNvSpPr/>
          <p:nvPr/>
        </p:nvSpPr>
        <p:spPr>
          <a:xfrm>
            <a:off x="731520" y="1874519"/>
            <a:ext cx="10728655" cy="384048"/>
          </a:xfrm>
          <a:prstGeom prst="rightArrow">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② 時間的經過、事物的因果順序、端到端工作流程  ───►</a:t>
            </a:r>
          </a:p>
        </p:txBody>
      </p:sp>
      <p:sp>
        <p:nvSpPr>
          <p:cNvPr id="8" name="Chevron 7"/>
          <p:cNvSpPr/>
          <p:nvPr/>
        </p:nvSpPr>
        <p:spPr>
          <a:xfrm>
            <a:off x="731520"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1</a:t>
            </a:r>
          </a:p>
        </p:txBody>
      </p:sp>
      <p:sp>
        <p:nvSpPr>
          <p:cNvPr id="9" name="Rounded Rectangle 8"/>
          <p:cNvSpPr/>
          <p:nvPr/>
        </p:nvSpPr>
        <p:spPr>
          <a:xfrm>
            <a:off x="731520"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20440"/>
            <a:ext cx="2144953" cy="2468880"/>
          </a:xfrm>
          <a:prstGeom prst="rect">
            <a:avLst/>
          </a:prstGeom>
          <a:noFill/>
        </p:spPr>
        <p:txBody>
          <a:bodyPr wrap="square">
            <a:spAutoFit/>
          </a:bodyPr>
          <a:lstStyle/>
          <a:p/>
        </p:txBody>
      </p:sp>
      <p:sp>
        <p:nvSpPr>
          <p:cNvPr id="11" name="Chevron 10"/>
          <p:cNvSpPr/>
          <p:nvPr/>
        </p:nvSpPr>
        <p:spPr>
          <a:xfrm>
            <a:off x="3470833"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2</a:t>
            </a:r>
          </a:p>
        </p:txBody>
      </p:sp>
      <p:sp>
        <p:nvSpPr>
          <p:cNvPr id="12" name="Rounded Rectangle 11"/>
          <p:cNvSpPr/>
          <p:nvPr/>
        </p:nvSpPr>
        <p:spPr>
          <a:xfrm>
            <a:off x="3470833"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3713" y="3520440"/>
            <a:ext cx="2144953" cy="2468880"/>
          </a:xfrm>
          <a:prstGeom prst="rect">
            <a:avLst/>
          </a:prstGeom>
          <a:noFill/>
        </p:spPr>
        <p:txBody>
          <a:bodyPr wrap="square">
            <a:spAutoFit/>
          </a:bodyPr>
          <a:lstStyle/>
          <a:p/>
        </p:txBody>
      </p:sp>
      <p:sp>
        <p:nvSpPr>
          <p:cNvPr id="14" name="Chevron 13"/>
          <p:cNvSpPr/>
          <p:nvPr/>
        </p:nvSpPr>
        <p:spPr>
          <a:xfrm>
            <a:off x="6210147"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3</a:t>
            </a:r>
          </a:p>
        </p:txBody>
      </p:sp>
      <p:sp>
        <p:nvSpPr>
          <p:cNvPr id="15" name="Rounded Rectangle 14"/>
          <p:cNvSpPr/>
          <p:nvPr/>
        </p:nvSpPr>
        <p:spPr>
          <a:xfrm>
            <a:off x="6210147"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3027" y="3520440"/>
            <a:ext cx="2144953" cy="2468880"/>
          </a:xfrm>
          <a:prstGeom prst="rect">
            <a:avLst/>
          </a:prstGeom>
          <a:noFill/>
        </p:spPr>
        <p:txBody>
          <a:bodyPr wrap="square">
            <a:spAutoFit/>
          </a:bodyPr>
          <a:lstStyle/>
          <a:p/>
        </p:txBody>
      </p:sp>
      <p:sp>
        <p:nvSpPr>
          <p:cNvPr id="17" name="Chevron 16"/>
          <p:cNvSpPr/>
          <p:nvPr/>
        </p:nvSpPr>
        <p:spPr>
          <a:xfrm>
            <a:off x="8949461" y="2468880"/>
            <a:ext cx="2510713" cy="777240"/>
          </a:xfrm>
          <a:prstGeom prst="chevron">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順序 4</a:t>
            </a:r>
          </a:p>
        </p:txBody>
      </p:sp>
      <p:sp>
        <p:nvSpPr>
          <p:cNvPr id="18" name="Rounded Rectangle 17"/>
          <p:cNvSpPr/>
          <p:nvPr/>
        </p:nvSpPr>
        <p:spPr>
          <a:xfrm>
            <a:off x="8949461"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2341" y="3520440"/>
            <a:ext cx="2144953" cy="2468880"/>
          </a:xfrm>
          <a:prstGeom prst="rect">
            <a:avLst/>
          </a:prstGeom>
          <a:noFill/>
        </p:spPr>
        <p:txBody>
          <a:bodyPr wrap="square">
            <a:spAutoFit/>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精準營養與代謝調控  |  第 015 講  ｜  版型 7：比較論法 (Comparison)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20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主張：體感口渴相較於實際脫水具備生理滯後性，應以「尿液淺淡黃色」為動態補水的精準金指標</a:t>
            </a:r>
          </a:p>
          <a:p>
            <a:pPr>
              <a:defRPr sz="1250">
                <a:solidFill>
                  <a:srgbClr val="64748B"/>
                </a:solidFill>
              </a:defRPr>
            </a:pPr>
            <a:r>
              <a:t>剖析體感口渴與客觀尿液監測的共通科學依據與靈敏度巨大差異</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American Journal of Clinical Nutrition ｜ 馮雪·家庭健康管理100講 第015講</a:t>
            </a:r>
          </a:p>
        </p:txBody>
      </p:sp>
      <p:sp>
        <p:nvSpPr>
          <p:cNvPr id="7" name="Rounded Rectangle 6"/>
          <p:cNvSpPr/>
          <p:nvPr/>
        </p:nvSpPr>
        <p:spPr>
          <a:xfrm>
            <a:off x="731520" y="1965960"/>
            <a:ext cx="3474720" cy="4114800"/>
          </a:xfrm>
          <a:prstGeom prst="roundRect">
            <a:avLst/>
          </a:prstGeom>
          <a:solidFill>
            <a:srgbClr val="F8FAFC"/>
          </a:solidFill>
          <a:ln w="1905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1965960"/>
            <a:ext cx="3474720" cy="411480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965960"/>
            <a:ext cx="347472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48840"/>
            <a:ext cx="3108960" cy="3749039"/>
          </a:xfrm>
          <a:prstGeom prst="rect">
            <a:avLst/>
          </a:prstGeom>
          <a:noFill/>
        </p:spPr>
        <p:txBody>
          <a:bodyPr wrap="square">
            <a:spAutoFit/>
          </a:bodyPr>
          <a:lstStyle/>
          <a:p>
            <a:pPr>
              <a:spcAft>
                <a:spcPts val="1200"/>
              </a:spcAft>
              <a:defRPr sz="1450" b="1">
                <a:solidFill>
                  <a:srgbClr val="051C2C"/>
                </a:solidFill>
              </a:defRPr>
            </a:pPr>
            <a:r>
              <a:t>主觀體感：口渴中樞反應（滯後）</a:t>
            </a:r>
          </a:p>
          <a:p>
            <a:pPr>
              <a:spcAft>
                <a:spcPts val="800"/>
              </a:spcAft>
              <a:defRPr sz="1250">
                <a:solidFill>
                  <a:srgbClr val="1F2937"/>
                </a:solidFill>
              </a:defRPr>
            </a:pPr>
            <a:r>
              <a:t>• • 延遲觸發：血容量已丟失 1%–2% 才有感覺</a:t>
            </a:r>
          </a:p>
          <a:p>
            <a:pPr>
              <a:spcAft>
                <a:spcPts val="800"/>
              </a:spcAft>
              <a:defRPr sz="1250">
                <a:solidFill>
                  <a:srgbClr val="1F2937"/>
                </a:solidFill>
              </a:defRPr>
            </a:pPr>
            <a:r>
              <a:t>• • 運動誤導：出汗鹽水同失，滲透壓不變導致不口渴</a:t>
            </a:r>
          </a:p>
          <a:p>
            <a:pPr>
              <a:spcAft>
                <a:spcPts val="800"/>
              </a:spcAft>
              <a:defRPr sz="1250">
                <a:solidFill>
                  <a:srgbClr val="1F2937"/>
                </a:solidFill>
              </a:defRPr>
            </a:pPr>
            <a:r>
              <a:t>• • 老年鈍化：長輩口渴中樞靈敏度下降 50% 易隱匿脫水</a:t>
            </a:r>
          </a:p>
        </p:txBody>
      </p:sp>
      <p:sp>
        <p:nvSpPr>
          <p:cNvPr id="11" name="TextBox 10"/>
          <p:cNvSpPr txBox="1"/>
          <p:nvPr/>
        </p:nvSpPr>
        <p:spPr>
          <a:xfrm>
            <a:off x="4526280" y="2148840"/>
            <a:ext cx="3108960" cy="3749039"/>
          </a:xfrm>
          <a:prstGeom prst="rect">
            <a:avLst/>
          </a:prstGeom>
          <a:noFill/>
        </p:spPr>
        <p:txBody>
          <a:bodyPr wrap="square">
            <a:spAutoFit/>
          </a:bodyPr>
          <a:lstStyle/>
          <a:p>
            <a:pPr>
              <a:spcAft>
                <a:spcPts val="1200"/>
              </a:spcAft>
              <a:defRPr sz="1450" b="1">
                <a:solidFill>
                  <a:srgbClr val="D97706"/>
                </a:solidFill>
              </a:defRPr>
            </a:pPr>
            <a:r>
              <a:t>核心共通依據：維持細胞外液滲透壓穩態</a:t>
            </a:r>
          </a:p>
          <a:p>
            <a:pPr>
              <a:spcAft>
                <a:spcPts val="800"/>
              </a:spcAft>
              <a:defRPr sz="1250">
                <a:solidFill>
                  <a:srgbClr val="1F2937"/>
                </a:solidFill>
              </a:defRPr>
            </a:pPr>
            <a:r>
              <a:t>• 【目標一致】：維持腎小球濾過率與全身血液流變學平穩</a:t>
            </a:r>
          </a:p>
          <a:p>
            <a:pPr>
              <a:spcAft>
                <a:spcPts val="800"/>
              </a:spcAft>
              <a:defRPr sz="1250">
                <a:solidFill>
                  <a:srgbClr val="1F2937"/>
                </a:solidFill>
              </a:defRPr>
            </a:pPr>
            <a:r>
              <a:t>• 【動態原則】：依出汗量、氣溫與活動強度動態浮動</a:t>
            </a:r>
          </a:p>
        </p:txBody>
      </p:sp>
      <p:sp>
        <p:nvSpPr>
          <p:cNvPr id="12" name="TextBox 11"/>
          <p:cNvSpPr txBox="1"/>
          <p:nvPr/>
        </p:nvSpPr>
        <p:spPr>
          <a:xfrm>
            <a:off x="8138159" y="2148840"/>
            <a:ext cx="3108960" cy="3749039"/>
          </a:xfrm>
          <a:prstGeom prst="rect">
            <a:avLst/>
          </a:prstGeom>
          <a:noFill/>
        </p:spPr>
        <p:txBody>
          <a:bodyPr wrap="square">
            <a:spAutoFit/>
          </a:bodyPr>
          <a:lstStyle/>
          <a:p>
            <a:pPr>
              <a:spcAft>
                <a:spcPts val="1200"/>
              </a:spcAft>
              <a:defRPr sz="1450" b="1">
                <a:solidFill>
                  <a:srgbClr val="1E3A8A"/>
                </a:solidFill>
              </a:defRPr>
            </a:pPr>
            <a:r>
              <a:t>客觀指標：尿液顏色判定（精準） ★</a:t>
            </a:r>
          </a:p>
          <a:p>
            <a:pPr>
              <a:spcAft>
                <a:spcPts val="800"/>
              </a:spcAft>
              <a:defRPr sz="1250">
                <a:solidFill>
                  <a:srgbClr val="1F2937"/>
                </a:solidFill>
              </a:defRPr>
            </a:pPr>
            <a:r>
              <a:t>• • 黃金狀態：淺稻草黃 / 淡檸檬黃（水合狀態完美）</a:t>
            </a:r>
          </a:p>
          <a:p>
            <a:pPr>
              <a:spcAft>
                <a:spcPts val="800"/>
              </a:spcAft>
              <a:defRPr sz="1250">
                <a:solidFill>
                  <a:srgbClr val="1F2937"/>
                </a:solidFill>
              </a:defRPr>
            </a:pPr>
            <a:r>
              <a:t>• • 濃茶深黃：ADH 最大分泌，指示組織嚴重微脫水</a:t>
            </a:r>
          </a:p>
          <a:p>
            <a:pPr>
              <a:spcAft>
                <a:spcPts val="800"/>
              </a:spcAft>
              <a:defRPr sz="1250">
                <a:solidFill>
                  <a:srgbClr val="1F2937"/>
                </a:solidFill>
              </a:defRPr>
            </a:pPr>
            <a:r>
              <a:t>• • 清水無色：過度水化，增加水中毒與電解質紊亂風險</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精準營養與代謝調控  |  第 016 講  ｜  版型 6：對立論法 (Opposition)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21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① 主張：飲水溫度嚴禁超過 65℃ 以規避食道癌風險，各類宣傳奇效的鹼性水與功能水缺乏臨床實證</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Source: WHO / IARC 癌症評估報告 ｜ 馮雪·家庭健康管理100講 第016講</a:t>
            </a:r>
          </a:p>
        </p:txBody>
      </p:sp>
      <p:sp>
        <p:nvSpPr>
          <p:cNvPr id="7" name="Rectangle 6"/>
          <p:cNvSpPr/>
          <p:nvPr/>
        </p:nvSpPr>
        <p:spPr>
          <a:xfrm>
            <a:off x="2651760" y="1828800"/>
            <a:ext cx="4297680" cy="502920"/>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高溫燙水 (&gt;65℃) ＆ 偽科學功能水</a:t>
            </a:r>
          </a:p>
        </p:txBody>
      </p:sp>
      <p:sp>
        <p:nvSpPr>
          <p:cNvPr id="8" name="Rectangle 7"/>
          <p:cNvSpPr/>
          <p:nvPr/>
        </p:nvSpPr>
        <p:spPr>
          <a:xfrm>
            <a:off x="7132320" y="1828800"/>
            <a:ext cx="4297680" cy="50292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科學溫水 (&lt;50℃) ＆ 普通白開水/淡茶 ★</a:t>
            </a:r>
          </a:p>
        </p:txBody>
      </p:sp>
      <p:sp>
        <p:nvSpPr>
          <p:cNvPr id="9" name="Oval 8"/>
          <p:cNvSpPr/>
          <p:nvPr/>
        </p:nvSpPr>
        <p:spPr>
          <a:xfrm>
            <a:off x="731520" y="2468880"/>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致癌與安全風險</a:t>
            </a:r>
          </a:p>
        </p:txBody>
      </p:sp>
      <p:sp>
        <p:nvSpPr>
          <p:cNvPr id="10" name="Rounded Rectangle 9"/>
          <p:cNvSpPr/>
          <p:nvPr/>
        </p:nvSpPr>
        <p:spPr>
          <a:xfrm>
            <a:off x="2651760" y="2468880"/>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42032"/>
            <a:ext cx="4023360" cy="722375"/>
          </a:xfrm>
          <a:prstGeom prst="rect">
            <a:avLst/>
          </a:prstGeom>
          <a:noFill/>
        </p:spPr>
        <p:txBody>
          <a:bodyPr wrap="square">
            <a:spAutoFit/>
          </a:bodyPr>
          <a:lstStyle/>
          <a:p>
            <a:pPr>
              <a:defRPr sz="1200">
                <a:solidFill>
                  <a:srgbClr val="1F2937"/>
                </a:solidFill>
              </a:defRPr>
            </a:pPr>
            <a:r>
              <a:t>&gt;65℃ 熱飲被 WHO 列為 2A 類致癌物，反覆燙傷食道上皮引發癌變</a:t>
            </a:r>
          </a:p>
        </p:txBody>
      </p:sp>
      <p:sp>
        <p:nvSpPr>
          <p:cNvPr id="12" name="Rounded Rectangle 11"/>
          <p:cNvSpPr/>
          <p:nvPr/>
        </p:nvSpPr>
        <p:spPr>
          <a:xfrm>
            <a:off x="7132320" y="2468880"/>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542032"/>
            <a:ext cx="4023360" cy="722375"/>
          </a:xfrm>
          <a:prstGeom prst="rect">
            <a:avLst/>
          </a:prstGeom>
          <a:noFill/>
        </p:spPr>
        <p:txBody>
          <a:bodyPr wrap="square">
            <a:spAutoFit/>
          </a:bodyPr>
          <a:lstStyle/>
          <a:p>
            <a:pPr>
              <a:defRPr sz="1200">
                <a:solidFill>
                  <a:srgbClr val="1F2937"/>
                </a:solidFill>
              </a:defRPr>
            </a:pPr>
            <a:r>
              <a:t>50℃ 以下溫水安全溫潤，完全無熱黏膜物理創傷風險</a:t>
            </a:r>
          </a:p>
        </p:txBody>
      </p:sp>
      <p:sp>
        <p:nvSpPr>
          <p:cNvPr id="14" name="Oval 13"/>
          <p:cNvSpPr/>
          <p:nvPr/>
        </p:nvSpPr>
        <p:spPr>
          <a:xfrm>
            <a:off x="731520" y="3447288"/>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酸鹼體質偽科學</a:t>
            </a:r>
          </a:p>
        </p:txBody>
      </p:sp>
      <p:sp>
        <p:nvSpPr>
          <p:cNvPr id="15" name="Rounded Rectangle 14"/>
          <p:cNvSpPr/>
          <p:nvPr/>
        </p:nvSpPr>
        <p:spPr>
          <a:xfrm>
            <a:off x="2651760" y="3447288"/>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20440"/>
            <a:ext cx="4023360" cy="722375"/>
          </a:xfrm>
          <a:prstGeom prst="rect">
            <a:avLst/>
          </a:prstGeom>
          <a:noFill/>
        </p:spPr>
        <p:txBody>
          <a:bodyPr wrap="square">
            <a:spAutoFit/>
          </a:bodyPr>
          <a:lstStyle/>
          <a:p>
            <a:pPr>
              <a:defRPr sz="1200">
                <a:solidFill>
                  <a:srgbClr val="1F2937"/>
                </a:solidFill>
              </a:defRPr>
            </a:pPr>
            <a:r>
              <a:t>宣稱「弱鹼水改善酸性體質」，無視胃酸秒中和事實</a:t>
            </a:r>
          </a:p>
        </p:txBody>
      </p:sp>
      <p:sp>
        <p:nvSpPr>
          <p:cNvPr id="17" name="Rounded Rectangle 16"/>
          <p:cNvSpPr/>
          <p:nvPr/>
        </p:nvSpPr>
        <p:spPr>
          <a:xfrm>
            <a:off x="7132320" y="3447288"/>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3520440"/>
            <a:ext cx="4023360" cy="722375"/>
          </a:xfrm>
          <a:prstGeom prst="rect">
            <a:avLst/>
          </a:prstGeom>
          <a:noFill/>
        </p:spPr>
        <p:txBody>
          <a:bodyPr wrap="square">
            <a:spAutoFit/>
          </a:bodyPr>
          <a:lstStyle/>
          <a:p>
            <a:pPr>
              <a:defRPr sz="1200">
                <a:solidFill>
                  <a:srgbClr val="1F2937"/>
                </a:solidFill>
              </a:defRPr>
            </a:pPr>
            <a:r>
              <a:t>人體自帶強大碳酸氫鹽肺腎緩衝系統，pH 恆定 7.35–7.45</a:t>
            </a:r>
          </a:p>
        </p:txBody>
      </p:sp>
      <p:sp>
        <p:nvSpPr>
          <p:cNvPr id="19" name="Oval 18"/>
          <p:cNvSpPr/>
          <p:nvPr/>
        </p:nvSpPr>
        <p:spPr>
          <a:xfrm>
            <a:off x="731520" y="4425696"/>
            <a:ext cx="1737360" cy="868680"/>
          </a:xfrm>
          <a:prstGeom prst="ellipse">
            <a:avLst/>
          </a:prstGeom>
          <a:solidFill>
            <a:srgbClr val="DCFCE7"/>
          </a:solidFill>
          <a:ln>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32"/>
                </a:solidFill>
              </a:defRPr>
            </a:pPr>
            <a:r>
              <a:t>經濟花費性價比</a:t>
            </a:r>
          </a:p>
        </p:txBody>
      </p:sp>
      <p:sp>
        <p:nvSpPr>
          <p:cNvPr id="20" name="Rounded Rectangle 19"/>
          <p:cNvSpPr/>
          <p:nvPr/>
        </p:nvSpPr>
        <p:spPr>
          <a:xfrm>
            <a:off x="2651760" y="4425696"/>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498848"/>
            <a:ext cx="4023360" cy="722375"/>
          </a:xfrm>
          <a:prstGeom prst="rect">
            <a:avLst/>
          </a:prstGeom>
          <a:noFill/>
        </p:spPr>
        <p:txBody>
          <a:bodyPr wrap="square">
            <a:spAutoFit/>
          </a:bodyPr>
          <a:lstStyle/>
          <a:p>
            <a:pPr>
              <a:defRPr sz="1200">
                <a:solidFill>
                  <a:srgbClr val="1F2937"/>
                </a:solidFill>
              </a:defRPr>
            </a:pPr>
            <a:r>
              <a:t>昂貴富氫水、小分子團水溢價 10–50 倍，實證為零</a:t>
            </a:r>
          </a:p>
        </p:txBody>
      </p:sp>
      <p:sp>
        <p:nvSpPr>
          <p:cNvPr id="22" name="Rounded Rectangle 21"/>
          <p:cNvSpPr/>
          <p:nvPr/>
        </p:nvSpPr>
        <p:spPr>
          <a:xfrm>
            <a:off x="7132320" y="4425696"/>
            <a:ext cx="4297680" cy="86868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4498848"/>
            <a:ext cx="4023360" cy="722375"/>
          </a:xfrm>
          <a:prstGeom prst="rect">
            <a:avLst/>
          </a:prstGeom>
          <a:noFill/>
        </p:spPr>
        <p:txBody>
          <a:bodyPr wrap="square">
            <a:spAutoFit/>
          </a:bodyPr>
          <a:lstStyle/>
          <a:p>
            <a:pPr>
              <a:defRPr sz="1200">
                <a:solidFill>
                  <a:srgbClr val="1F2937"/>
                </a:solidFill>
              </a:defRPr>
            </a:pPr>
            <a:r>
              <a:t>普通涼白開與淡茶成本極低，抗氧化多酚獲益確切</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環境防禦與屏障護理  |  第 017 講  ｜  版型 3：結合論法 (Combined Tree)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22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主張：過度清潔會摧毀「磚牆結構」與皮脂膜弱酸環境，護膚核心在於溫和去污並在 3 分鐘內封閉保濕</a:t>
            </a:r>
          </a:p>
          <a:p>
            <a:pPr>
              <a:defRPr sz="1250">
                <a:solidFill>
                  <a:srgbClr val="64748B"/>
                </a:solidFill>
              </a:defRPr>
            </a:pPr>
            <a:r>
              <a:t>依據皮膚生理學磚牆學說，兼顧物理屏障完整性與表面化學微生態</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Journal of Investigative Dermatology ｜ 馮雪·家庭健康管理100講 第017講</a:t>
            </a:r>
          </a:p>
        </p:txBody>
      </p:sp>
      <p:sp>
        <p:nvSpPr>
          <p:cNvPr id="7" name="Rounded Rectangle 6"/>
          <p:cNvSpPr/>
          <p:nvPr/>
        </p:nvSpPr>
        <p:spPr>
          <a:xfrm>
            <a:off x="2011680" y="1783080"/>
            <a:ext cx="8138160" cy="731520"/>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 護膚第一原則：保護角質層磚牆 ＋ 滋養弱酸皮脂膜外衣</a:t>
            </a:r>
          </a:p>
        </p:txBody>
      </p:sp>
      <p:sp>
        <p:nvSpPr>
          <p:cNvPr id="8" name="Rounded Rectangle 7"/>
          <p:cNvSpPr/>
          <p:nvPr/>
        </p:nvSpPr>
        <p:spPr>
          <a:xfrm>
            <a:off x="73152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物理磚牆架構：角質與脂質灰漿</a:t>
            </a:r>
          </a:p>
        </p:txBody>
      </p:sp>
      <p:sp>
        <p:nvSpPr>
          <p:cNvPr id="9" name="Rounded Rectangle 8"/>
          <p:cNvSpPr/>
          <p:nvPr/>
        </p:nvSpPr>
        <p:spPr>
          <a:xfrm>
            <a:off x="731520"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1456944" cy="2103120"/>
          </a:xfrm>
          <a:prstGeom prst="rect">
            <a:avLst/>
          </a:prstGeom>
          <a:noFill/>
        </p:spPr>
        <p:txBody>
          <a:bodyPr wrap="square">
            <a:spAutoFit/>
          </a:bodyPr>
          <a:lstStyle/>
          <a:p>
            <a:pPr>
              <a:defRPr sz="1150">
                <a:solidFill>
                  <a:srgbClr val="1F2937"/>
                </a:solidFill>
              </a:defRPr>
            </a:pPr>
            <a:r>
              <a:t>• 角質形成細胞（磚塊）提供致密機械防禦</a:t>
            </a:r>
          </a:p>
        </p:txBody>
      </p:sp>
      <p:sp>
        <p:nvSpPr>
          <p:cNvPr id="11" name="Rounded Rectangle 10"/>
          <p:cNvSpPr/>
          <p:nvPr/>
        </p:nvSpPr>
        <p:spPr>
          <a:xfrm>
            <a:off x="2508504"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9944" y="3931920"/>
            <a:ext cx="1456944" cy="2103120"/>
          </a:xfrm>
          <a:prstGeom prst="rect">
            <a:avLst/>
          </a:prstGeom>
          <a:noFill/>
        </p:spPr>
        <p:txBody>
          <a:bodyPr wrap="square">
            <a:spAutoFit/>
          </a:bodyPr>
          <a:lstStyle/>
          <a:p>
            <a:pPr>
              <a:defRPr sz="1150">
                <a:solidFill>
                  <a:srgbClr val="1F2937"/>
                </a:solidFill>
              </a:defRPr>
            </a:pPr>
            <a:r>
              <a:t>• 神經醯胺與膽固醇（灰漿）阻隔水分流失</a:t>
            </a:r>
          </a:p>
        </p:txBody>
      </p:sp>
      <p:sp>
        <p:nvSpPr>
          <p:cNvPr id="13" name="Rounded Rectangle 12"/>
          <p:cNvSpPr/>
          <p:nvPr/>
        </p:nvSpPr>
        <p:spPr>
          <a:xfrm>
            <a:off x="4285488"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6928" y="3931920"/>
            <a:ext cx="1456944" cy="2103120"/>
          </a:xfrm>
          <a:prstGeom prst="rect">
            <a:avLst/>
          </a:prstGeom>
          <a:noFill/>
        </p:spPr>
        <p:txBody>
          <a:bodyPr wrap="square">
            <a:spAutoFit/>
          </a:bodyPr>
          <a:lstStyle/>
          <a:p>
            <a:pPr>
              <a:defRPr sz="1150">
                <a:solidFill>
                  <a:srgbClr val="1F2937"/>
                </a:solidFill>
              </a:defRPr>
            </a:pPr>
            <a:r>
              <a:t>• 拒絕深層去角質與暴力搓澡巾撕扯</a:t>
            </a:r>
          </a:p>
        </p:txBody>
      </p:sp>
      <p:sp>
        <p:nvSpPr>
          <p:cNvPr id="15" name="Rounded Rectangle 14"/>
          <p:cNvSpPr/>
          <p:nvPr/>
        </p:nvSpPr>
        <p:spPr>
          <a:xfrm>
            <a:off x="626364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化學皮脂膜外衣：弱酸性微生態</a:t>
            </a:r>
          </a:p>
        </p:txBody>
      </p:sp>
      <p:sp>
        <p:nvSpPr>
          <p:cNvPr id="16" name="Rounded Rectangle 15"/>
          <p:cNvSpPr/>
          <p:nvPr/>
        </p:nvSpPr>
        <p:spPr>
          <a:xfrm>
            <a:off x="6263640"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931920"/>
            <a:ext cx="1456944" cy="2103120"/>
          </a:xfrm>
          <a:prstGeom prst="rect">
            <a:avLst/>
          </a:prstGeom>
          <a:noFill/>
        </p:spPr>
        <p:txBody>
          <a:bodyPr wrap="square">
            <a:spAutoFit/>
          </a:bodyPr>
          <a:lstStyle/>
          <a:p>
            <a:pPr>
              <a:defRPr sz="1150">
                <a:solidFill>
                  <a:srgbClr val="1F2937"/>
                </a:solidFill>
              </a:defRPr>
            </a:pPr>
            <a:r>
              <a:t>• 正常皮脂汗液膜維持微酸性 (pH 4.5–6.0)</a:t>
            </a:r>
          </a:p>
        </p:txBody>
      </p:sp>
      <p:sp>
        <p:nvSpPr>
          <p:cNvPr id="18" name="Rounded Rectangle 17"/>
          <p:cNvSpPr/>
          <p:nvPr/>
        </p:nvSpPr>
        <p:spPr>
          <a:xfrm>
            <a:off x="8040624"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2063" y="3931920"/>
            <a:ext cx="1456944" cy="2103120"/>
          </a:xfrm>
          <a:prstGeom prst="rect">
            <a:avLst/>
          </a:prstGeom>
          <a:noFill/>
        </p:spPr>
        <p:txBody>
          <a:bodyPr wrap="square">
            <a:spAutoFit/>
          </a:bodyPr>
          <a:lstStyle/>
          <a:p>
            <a:pPr>
              <a:defRPr sz="1150">
                <a:solidFill>
                  <a:srgbClr val="1F2937"/>
                </a:solidFill>
              </a:defRPr>
            </a:pPr>
            <a:r>
              <a:t>• 抑制外源有害菌滋生，維持常駐共生菌平衡</a:t>
            </a:r>
          </a:p>
        </p:txBody>
      </p:sp>
      <p:sp>
        <p:nvSpPr>
          <p:cNvPr id="20" name="Rounded Rectangle 19"/>
          <p:cNvSpPr/>
          <p:nvPr/>
        </p:nvSpPr>
        <p:spPr>
          <a:xfrm>
            <a:off x="9817608"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9048" y="3931920"/>
            <a:ext cx="1456944" cy="2103120"/>
          </a:xfrm>
          <a:prstGeom prst="rect">
            <a:avLst/>
          </a:prstGeom>
          <a:noFill/>
        </p:spPr>
        <p:txBody>
          <a:bodyPr wrap="square">
            <a:spAutoFit/>
          </a:bodyPr>
          <a:lstStyle/>
          <a:p>
            <a:pPr>
              <a:defRPr sz="1150">
                <a:solidFill>
                  <a:srgbClr val="1F2937"/>
                </a:solidFill>
              </a:defRPr>
            </a:pPr>
            <a:r>
              <a:t>• 選用氨基酸弱酸潔面，清潔後 3 分鐘內封閉塗霜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運動處方與久坐對抗  |  第 018 講  ｜  版型 1：一對一論法 (One-to-One)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23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① 主張：每日步行 7500–8000 步即達健康收益最高平台期，間歇性受壓反而能滋潤軟骨預防關節退化</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Source: JAMA 2020 (NIH / CDC 聯合研究) ｜ 馮雪·家庭健康管理100講 第018講</a:t>
            </a:r>
          </a:p>
        </p:txBody>
      </p:sp>
      <p:sp>
        <p:nvSpPr>
          <p:cNvPr id="7" name="Rectangle 6"/>
          <p:cNvSpPr/>
          <p:nvPr/>
        </p:nvSpPr>
        <p:spPr>
          <a:xfrm>
            <a:off x="1836420" y="4602480"/>
            <a:ext cx="777240" cy="1158240"/>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9260" y="4255008"/>
            <a:ext cx="1051560" cy="320040"/>
          </a:xfrm>
          <a:prstGeom prst="rect">
            <a:avLst/>
          </a:prstGeom>
          <a:noFill/>
        </p:spPr>
        <p:txBody>
          <a:bodyPr wrap="none">
            <a:spAutoFit/>
          </a:bodyPr>
          <a:lstStyle/>
          <a:p>
            <a:pPr algn="ctr">
              <a:defRPr sz="1100" b="0">
                <a:solidFill>
                  <a:srgbClr val="6B7280"/>
                </a:solidFill>
              </a:defRPr>
            </a:pPr>
            <a:r>
              <a:t>基準線</a:t>
            </a:r>
          </a:p>
        </p:txBody>
      </p:sp>
      <p:sp>
        <p:nvSpPr>
          <p:cNvPr id="9" name="TextBox 8"/>
          <p:cNvSpPr txBox="1"/>
          <p:nvPr/>
        </p:nvSpPr>
        <p:spPr>
          <a:xfrm>
            <a:off x="1653540" y="5833872"/>
            <a:ext cx="1143000" cy="365760"/>
          </a:xfrm>
          <a:prstGeom prst="rect">
            <a:avLst/>
          </a:prstGeom>
          <a:noFill/>
        </p:spPr>
        <p:txBody>
          <a:bodyPr wrap="none">
            <a:spAutoFit/>
          </a:bodyPr>
          <a:lstStyle/>
          <a:p>
            <a:pPr algn="ctr">
              <a:defRPr sz="1200" b="0">
                <a:solidFill>
                  <a:srgbClr val="1F2937"/>
                </a:solidFill>
              </a:defRPr>
            </a:pPr>
            <a:r>
              <a:t>傳統認知 / 忽視基準組</a:t>
            </a:r>
          </a:p>
        </p:txBody>
      </p:sp>
      <p:sp>
        <p:nvSpPr>
          <p:cNvPr id="10" name="Rectangle 9"/>
          <p:cNvSpPr/>
          <p:nvPr/>
        </p:nvSpPr>
        <p:spPr>
          <a:xfrm>
            <a:off x="4091940" y="3637279"/>
            <a:ext cx="777240" cy="2123440"/>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4780" y="3289807"/>
            <a:ext cx="1051560" cy="320040"/>
          </a:xfrm>
          <a:prstGeom prst="rect">
            <a:avLst/>
          </a:prstGeom>
          <a:noFill/>
        </p:spPr>
        <p:txBody>
          <a:bodyPr wrap="none">
            <a:spAutoFit/>
          </a:bodyPr>
          <a:lstStyle/>
          <a:p>
            <a:pPr algn="ctr">
              <a:defRPr sz="1100" b="0">
                <a:solidFill>
                  <a:srgbClr val="6B7280"/>
                </a:solidFill>
              </a:defRPr>
            </a:pPr>
            <a:r>
              <a:t>常規</a:t>
            </a:r>
          </a:p>
        </p:txBody>
      </p:sp>
      <p:sp>
        <p:nvSpPr>
          <p:cNvPr id="12" name="TextBox 11"/>
          <p:cNvSpPr txBox="1"/>
          <p:nvPr/>
        </p:nvSpPr>
        <p:spPr>
          <a:xfrm>
            <a:off x="3909060" y="5833872"/>
            <a:ext cx="1143000" cy="365760"/>
          </a:xfrm>
          <a:prstGeom prst="rect">
            <a:avLst/>
          </a:prstGeom>
          <a:noFill/>
        </p:spPr>
        <p:txBody>
          <a:bodyPr wrap="none">
            <a:spAutoFit/>
          </a:bodyPr>
          <a:lstStyle/>
          <a:p>
            <a:pPr algn="ctr">
              <a:defRPr sz="1200" b="0">
                <a:solidFill>
                  <a:srgbClr val="1F2937"/>
                </a:solidFill>
              </a:defRPr>
            </a:pPr>
            <a:r>
              <a:t>普通生活方式組</a:t>
            </a:r>
          </a:p>
        </p:txBody>
      </p:sp>
      <p:sp>
        <p:nvSpPr>
          <p:cNvPr id="13" name="Rectangle 12"/>
          <p:cNvSpPr/>
          <p:nvPr/>
        </p:nvSpPr>
        <p:spPr>
          <a:xfrm>
            <a:off x="6347460" y="2286000"/>
            <a:ext cx="777240" cy="3474720"/>
          </a:xfrm>
          <a:prstGeom prst="rect">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0300" y="1938528"/>
            <a:ext cx="1051560" cy="320040"/>
          </a:xfrm>
          <a:prstGeom prst="rect">
            <a:avLst/>
          </a:prstGeom>
          <a:noFill/>
        </p:spPr>
        <p:txBody>
          <a:bodyPr wrap="none">
            <a:spAutoFit/>
          </a:bodyPr>
          <a:lstStyle/>
          <a:p>
            <a:pPr algn="ctr">
              <a:defRPr sz="1300" b="1">
                <a:solidFill>
                  <a:srgbClr val="004F32"/>
                </a:solidFill>
              </a:defRPr>
            </a:pPr>
            <a:r>
              <a:t>8000 步</a:t>
            </a:r>
          </a:p>
        </p:txBody>
      </p:sp>
      <p:sp>
        <p:nvSpPr>
          <p:cNvPr id="15" name="TextBox 14"/>
          <p:cNvSpPr txBox="1"/>
          <p:nvPr/>
        </p:nvSpPr>
        <p:spPr>
          <a:xfrm>
            <a:off x="6164580" y="5833872"/>
            <a:ext cx="1143000" cy="365760"/>
          </a:xfrm>
          <a:prstGeom prst="rect">
            <a:avLst/>
          </a:prstGeom>
          <a:noFill/>
        </p:spPr>
        <p:txBody>
          <a:bodyPr wrap="none">
            <a:spAutoFit/>
          </a:bodyPr>
          <a:lstStyle/>
          <a:p>
            <a:pPr algn="ctr">
              <a:defRPr sz="1200" b="1">
                <a:solidFill>
                  <a:srgbClr val="004F32"/>
                </a:solidFill>
              </a:defRPr>
            </a:pPr>
            <a:r>
              <a:t>本講核心干預 (全因死亡率降幅最大的)</a:t>
            </a:r>
          </a:p>
        </p:txBody>
      </p:sp>
      <p:sp>
        <p:nvSpPr>
          <p:cNvPr id="16" name="Rounded Rectangle 15"/>
          <p:cNvSpPr/>
          <p:nvPr/>
        </p:nvSpPr>
        <p:spPr>
          <a:xfrm>
            <a:off x="8229600" y="2011680"/>
            <a:ext cx="3200400" cy="3749039"/>
          </a:xfrm>
          <a:prstGeom prst="roundRect">
            <a:avLst/>
          </a:prstGeom>
          <a:solidFill>
            <a:srgbClr val="F3F4F6"/>
          </a:solidFill>
          <a:ln w="1905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194560"/>
            <a:ext cx="2834640" cy="3383280"/>
          </a:xfrm>
          <a:prstGeom prst="rect">
            <a:avLst/>
          </a:prstGeom>
          <a:noFill/>
        </p:spPr>
        <p:txBody>
          <a:bodyPr wrap="square">
            <a:spAutoFit/>
          </a:bodyPr>
          <a:lstStyle/>
          <a:p>
            <a:pPr>
              <a:spcAft>
                <a:spcPts val="1000"/>
              </a:spcAft>
              <a:defRPr sz="1500" b="1">
                <a:solidFill>
                  <a:srgbClr val="177B57"/>
                </a:solidFill>
              </a:defRPr>
            </a:pPr>
            <a:r>
              <a:t>② 單一核心證據解析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運動處方與久坐對抗  |  第 019 講  ｜  版型 8：BCG 論法 (BCG 2×2 Matrix)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24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主張：即便每週運動達標亦無法抵消連續久坐造成的脂蛋白脂肪酶關閉，需每 90 分鐘強制中斷站立</a:t>
            </a:r>
          </a:p>
          <a:p>
            <a:pPr>
              <a:defRPr sz="1250">
                <a:solidFill>
                  <a:srgbClr val="64748B"/>
                </a:solidFill>
              </a:defRPr>
            </a:pPr>
            <a:r>
              <a:t>以每週運動達標情況（橫軸）與全天累計久坐時長（縱軸）構建代謝風險四象限</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WHO 2020 身體活動與久坐行為指南 ｜ 馮雪·家庭健康管理100講 第019講</a:t>
            </a:r>
          </a:p>
        </p:txBody>
      </p:sp>
      <p:sp>
        <p:nvSpPr>
          <p:cNvPr id="7" name="Rectangle 6"/>
          <p:cNvSpPr/>
          <p:nvPr/>
        </p:nvSpPr>
        <p:spPr>
          <a:xfrm>
            <a:off x="731520" y="1874519"/>
            <a:ext cx="1371600" cy="3749039"/>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累計久坐 ≥ 6h / 連續 ≥ 90min</a:t>
            </a:r>
            <a:br/>
            <a:r>
              <a:t>│  久坐維度</a:t>
            </a:r>
            <a:br/>
            <a:r>
              <a:t>▼ 規律中斷久坐 / 站坐交替</a:t>
            </a:r>
          </a:p>
        </p:txBody>
      </p:sp>
      <p:sp>
        <p:nvSpPr>
          <p:cNvPr id="8" name="Rectangle 7"/>
          <p:cNvSpPr/>
          <p:nvPr/>
        </p:nvSpPr>
        <p:spPr>
          <a:xfrm>
            <a:off x="2286000" y="5760720"/>
            <a:ext cx="9052560" cy="438912"/>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無規律運動 (未達 150min/週)       每週運動達標維度       運動達標 (≥ 150min/週) ►</a:t>
            </a:r>
          </a:p>
        </p:txBody>
      </p:sp>
      <p:sp>
        <p:nvSpPr>
          <p:cNvPr id="9" name="Rounded Rectangle 8"/>
          <p:cNvSpPr/>
          <p:nvPr/>
        </p:nvSpPr>
        <p:spPr>
          <a:xfrm>
            <a:off x="2286000" y="1874519"/>
            <a:ext cx="4434840" cy="1810512"/>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011679"/>
            <a:ext cx="4069079" cy="1536192"/>
          </a:xfrm>
          <a:prstGeom prst="rect">
            <a:avLst/>
          </a:prstGeom>
          <a:noFill/>
        </p:spPr>
        <p:txBody>
          <a:bodyPr wrap="square">
            <a:spAutoFit/>
          </a:bodyPr>
          <a:lstStyle/>
          <a:p>
            <a:pPr>
              <a:spcAft>
                <a:spcPts val="600"/>
              </a:spcAft>
              <a:defRPr sz="1400" b="1">
                <a:solidFill>
                  <a:srgbClr val="6B21A8"/>
                </a:solidFill>
              </a:defRPr>
            </a:pPr>
            <a:r>
              <a:t>③ 雙重高危沈默癱瘓區</a:t>
            </a:r>
          </a:p>
          <a:p>
            <a:pPr>
              <a:defRPr sz="1200">
                <a:solidFill>
                  <a:srgbClr val="0F172A"/>
                </a:solidFill>
              </a:defRPr>
            </a:pPr>
            <a:r>
              <a:t>全天久坐 ＋ 零運動</a:t>
            </a:r>
            <a:br/>
            <a:r>
              <a:t>• LPL 活性持續處於極低水平</a:t>
            </a:r>
            <a:br/>
            <a:r>
              <a:t>• 心血管與代謝疾病風險飆升 200%</a:t>
            </a:r>
          </a:p>
        </p:txBody>
      </p:sp>
      <p:sp>
        <p:nvSpPr>
          <p:cNvPr id="11" name="Rounded Rectangle 10"/>
          <p:cNvSpPr/>
          <p:nvPr/>
        </p:nvSpPr>
        <p:spPr>
          <a:xfrm>
            <a:off x="6903720" y="1874519"/>
            <a:ext cx="4434840" cy="1810512"/>
          </a:xfrm>
          <a:prstGeom prst="roundRect">
            <a:avLst/>
          </a:prstGeom>
          <a:solidFill>
            <a:srgbClr val="F3E8FF"/>
          </a:solidFill>
          <a:ln w="254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2011679"/>
            <a:ext cx="4069079" cy="1536192"/>
          </a:xfrm>
          <a:prstGeom prst="rect">
            <a:avLst/>
          </a:prstGeom>
          <a:noFill/>
        </p:spPr>
        <p:txBody>
          <a:bodyPr wrap="square">
            <a:spAutoFit/>
          </a:bodyPr>
          <a:lstStyle/>
          <a:p>
            <a:pPr>
              <a:spcAft>
                <a:spcPts val="600"/>
              </a:spcAft>
              <a:defRPr sz="1400" b="1">
                <a:solidFill>
                  <a:srgbClr val="111827"/>
                </a:solidFill>
              </a:defRPr>
            </a:pPr>
            <a:r>
              <a:t>③ 積極型久坐者迷思 ★ 核心警示</a:t>
            </a:r>
          </a:p>
          <a:p>
            <a:pPr>
              <a:defRPr sz="1200">
                <a:solidFill>
                  <a:srgbClr val="0F172A"/>
                </a:solidFill>
              </a:defRPr>
            </a:pPr>
            <a:r>
              <a:t>白天連續坐 10 小時，晚上健身 1 小時</a:t>
            </a:r>
            <a:br/>
            <a:r>
              <a:t>• 運動鍛鍊的心血管益處被白天久坐大幅抵消</a:t>
            </a:r>
            <a:br/>
            <a:r>
              <a:t>• 頑固高血糖與內臟脂肪沉積難以改善</a:t>
            </a:r>
          </a:p>
        </p:txBody>
      </p:sp>
      <p:sp>
        <p:nvSpPr>
          <p:cNvPr id="13" name="Rounded Rectangle 12"/>
          <p:cNvSpPr/>
          <p:nvPr/>
        </p:nvSpPr>
        <p:spPr>
          <a:xfrm>
            <a:off x="2286000" y="3822191"/>
            <a:ext cx="4434840" cy="1810512"/>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3959352"/>
            <a:ext cx="4069079" cy="1536192"/>
          </a:xfrm>
          <a:prstGeom prst="rect">
            <a:avLst/>
          </a:prstGeom>
          <a:noFill/>
        </p:spPr>
        <p:txBody>
          <a:bodyPr wrap="square">
            <a:spAutoFit/>
          </a:bodyPr>
          <a:lstStyle/>
          <a:p>
            <a:pPr>
              <a:spcAft>
                <a:spcPts val="600"/>
              </a:spcAft>
              <a:defRPr sz="1400" b="1">
                <a:solidFill>
                  <a:srgbClr val="6B21A8"/>
                </a:solidFill>
              </a:defRPr>
            </a:pPr>
            <a:r>
              <a:t>③ 低效代謝代償區</a:t>
            </a:r>
          </a:p>
          <a:p>
            <a:pPr>
              <a:defRPr sz="1200">
                <a:solidFill>
                  <a:srgbClr val="0F172A"/>
                </a:solidFill>
              </a:defRPr>
            </a:pPr>
            <a:r>
              <a:t>雖然不常坐，但缺乏足夠心肺刺激</a:t>
            </a:r>
            <a:br/>
            <a:r>
              <a:t>• 維持基礎日常代謝，但心肺儲備不足</a:t>
            </a:r>
          </a:p>
        </p:txBody>
      </p:sp>
      <p:sp>
        <p:nvSpPr>
          <p:cNvPr id="15" name="Rounded Rectangle 14"/>
          <p:cNvSpPr/>
          <p:nvPr/>
        </p:nvSpPr>
        <p:spPr>
          <a:xfrm>
            <a:off x="6903720" y="3822191"/>
            <a:ext cx="4434840" cy="1810512"/>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3959352"/>
            <a:ext cx="4069079" cy="1536192"/>
          </a:xfrm>
          <a:prstGeom prst="rect">
            <a:avLst/>
          </a:prstGeom>
          <a:noFill/>
        </p:spPr>
        <p:txBody>
          <a:bodyPr wrap="square">
            <a:spAutoFit/>
          </a:bodyPr>
          <a:lstStyle/>
          <a:p>
            <a:pPr>
              <a:spcAft>
                <a:spcPts val="600"/>
              </a:spcAft>
              <a:defRPr sz="1400" b="1">
                <a:solidFill>
                  <a:srgbClr val="6B21A8"/>
                </a:solidFill>
              </a:defRPr>
            </a:pPr>
            <a:r>
              <a:t>③ 代謝活力黃金標竿區</a:t>
            </a:r>
          </a:p>
          <a:p>
            <a:pPr>
              <a:defRPr sz="1200">
                <a:solidFill>
                  <a:srgbClr val="0F172A"/>
                </a:solidFill>
              </a:defRPr>
            </a:pPr>
            <a:r>
              <a:t>每 90 分鐘起身中斷 ＋ 每週 150 分鐘中度運動</a:t>
            </a:r>
            <a:br/>
            <a:r>
              <a:t>• LPL 活性常態充沛，血糖平穩</a:t>
            </a:r>
            <a:br/>
            <a:r>
              <a:t>• 全因死亡風險降至最低基準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運動處方與久坐對抗  |  第 019-1 講  ｜  版型 2：並列論法 (Parallel)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25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① 主張：隨機進行比目魚肌提踵與伸髖伸展能立即重啟下肢靜脈瓣膜泵，徹底阻斷靜脈血栓與骨盆前傾</a:t>
            </a:r>
          </a:p>
          <a:p>
            <a:pPr>
              <a:defRPr sz="1250">
                <a:solidFill>
                  <a:srgbClr val="64748B"/>
                </a:solidFill>
              </a:defRPr>
            </a:pPr>
            <a:r>
              <a:t>四個零成本工位動作即刻打通血液回流與關節力線</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馮雪·家庭健康管理100講 加餐篇 ｜ 人體工學與物理治療動作庫</a:t>
            </a:r>
          </a:p>
        </p:txBody>
      </p:sp>
      <p:sp>
        <p:nvSpPr>
          <p:cNvPr id="7" name="Rounded Rectangle 6"/>
          <p:cNvSpPr/>
          <p:nvPr/>
        </p:nvSpPr>
        <p:spPr>
          <a:xfrm>
            <a:off x="731520"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小腿比目魚肌提踵 (20–30 次 / 組)</a:t>
            </a:r>
          </a:p>
        </p:txBody>
      </p:sp>
      <p:sp>
        <p:nvSpPr>
          <p:cNvPr id="9" name="TextBox 8"/>
          <p:cNvSpPr txBox="1"/>
          <p:nvPr/>
        </p:nvSpPr>
        <p:spPr>
          <a:xfrm>
            <a:off x="914400" y="2514600"/>
            <a:ext cx="3027578" cy="3520440"/>
          </a:xfrm>
          <a:prstGeom prst="rect">
            <a:avLst/>
          </a:prstGeom>
          <a:noFill/>
        </p:spPr>
        <p:txBody>
          <a:bodyPr wrap="square">
            <a:spAutoFit/>
          </a:bodyPr>
          <a:lstStyle/>
          <a:p>
            <a:pPr>
              <a:spcAft>
                <a:spcPts val="600"/>
              </a:spcAft>
              <a:defRPr sz="1250">
                <a:solidFill>
                  <a:srgbClr val="0F172A"/>
                </a:solidFill>
              </a:defRPr>
            </a:pPr>
            <a:r>
              <a:t>1. • 雙腳腳跟極限提起再緩慢下落</a:t>
            </a:r>
          </a:p>
          <a:p>
            <a:pPr>
              <a:spcAft>
                <a:spcPts val="600"/>
              </a:spcAft>
              <a:defRPr sz="1250">
                <a:solidFill>
                  <a:srgbClr val="0F172A"/>
                </a:solidFill>
              </a:defRPr>
            </a:pPr>
            <a:r>
              <a:t>2. • 擠壓深層靜脈竇，驅動下肢血液回流</a:t>
            </a:r>
          </a:p>
          <a:p>
            <a:pPr>
              <a:spcAft>
                <a:spcPts val="600"/>
              </a:spcAft>
              <a:defRPr sz="1250">
                <a:solidFill>
                  <a:srgbClr val="0F172A"/>
                </a:solidFill>
              </a:defRPr>
            </a:pPr>
            <a:r>
              <a:t>3. • 預防下肢靜脈曲張與深靜脈血栓</a:t>
            </a:r>
          </a:p>
        </p:txBody>
      </p:sp>
      <p:sp>
        <p:nvSpPr>
          <p:cNvPr id="10" name="Rounded Rectangle 9"/>
          <p:cNvSpPr/>
          <p:nvPr/>
        </p:nvSpPr>
        <p:spPr>
          <a:xfrm>
            <a:off x="4399178"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874519"/>
            <a:ext cx="3393338"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立姿單腿伸髖下壓 (兩側各 20 秒)</a:t>
            </a:r>
          </a:p>
        </p:txBody>
      </p:sp>
      <p:sp>
        <p:nvSpPr>
          <p:cNvPr id="12" name="TextBox 11"/>
          <p:cNvSpPr txBox="1"/>
          <p:nvPr/>
        </p:nvSpPr>
        <p:spPr>
          <a:xfrm>
            <a:off x="4582058" y="2514600"/>
            <a:ext cx="3027578" cy="3520440"/>
          </a:xfrm>
          <a:prstGeom prst="rect">
            <a:avLst/>
          </a:prstGeom>
          <a:noFill/>
        </p:spPr>
        <p:txBody>
          <a:bodyPr wrap="square">
            <a:spAutoFit/>
          </a:bodyPr>
          <a:lstStyle/>
          <a:p>
            <a:pPr>
              <a:spcAft>
                <a:spcPts val="600"/>
              </a:spcAft>
              <a:defRPr sz="1250">
                <a:solidFill>
                  <a:srgbClr val="0F172A"/>
                </a:solidFill>
              </a:defRPr>
            </a:pPr>
            <a:r>
              <a:t>1. • 弓步後撤下壓骨盆，拉長緊繃髂腰肌</a:t>
            </a:r>
          </a:p>
          <a:p>
            <a:pPr>
              <a:spcAft>
                <a:spcPts val="600"/>
              </a:spcAft>
              <a:defRPr sz="1250">
                <a:solidFill>
                  <a:srgbClr val="0F172A"/>
                </a:solidFill>
              </a:defRPr>
            </a:pPr>
            <a:r>
              <a:t>2. • 重新激活失活休眠的臀大肌</a:t>
            </a:r>
          </a:p>
          <a:p>
            <a:pPr>
              <a:spcAft>
                <a:spcPts val="600"/>
              </a:spcAft>
              <a:defRPr sz="1250">
                <a:solidFill>
                  <a:srgbClr val="0F172A"/>
                </a:solidFill>
              </a:defRPr>
            </a:pPr>
            <a:r>
              <a:t>3. • 根治久坐造成的骨盆前傾與腰部酸脹</a:t>
            </a:r>
          </a:p>
        </p:txBody>
      </p:sp>
      <p:sp>
        <p:nvSpPr>
          <p:cNvPr id="13" name="Rounded Rectangle 12"/>
          <p:cNvSpPr/>
          <p:nvPr/>
        </p:nvSpPr>
        <p:spPr>
          <a:xfrm>
            <a:off x="8066836"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T 字擴胸擠壓肩胛 (頂峰停頓 5 秒)</a:t>
            </a:r>
          </a:p>
        </p:txBody>
      </p:sp>
      <p:sp>
        <p:nvSpPr>
          <p:cNvPr id="15" name="TextBox 14"/>
          <p:cNvSpPr txBox="1"/>
          <p:nvPr/>
        </p:nvSpPr>
        <p:spPr>
          <a:xfrm>
            <a:off x="8249716" y="2514600"/>
            <a:ext cx="3027578" cy="3520440"/>
          </a:xfrm>
          <a:prstGeom prst="rect">
            <a:avLst/>
          </a:prstGeom>
          <a:noFill/>
        </p:spPr>
        <p:txBody>
          <a:bodyPr wrap="square">
            <a:spAutoFit/>
          </a:bodyPr>
          <a:lstStyle/>
          <a:p>
            <a:pPr>
              <a:spcAft>
                <a:spcPts val="600"/>
              </a:spcAft>
              <a:defRPr sz="1250">
                <a:solidFill>
                  <a:srgbClr val="0F172A"/>
                </a:solidFill>
              </a:defRPr>
            </a:pPr>
            <a:r>
              <a:t>1. • 雙臂展開呈 T 字形，肩胛骨用力後縮</a:t>
            </a:r>
          </a:p>
          <a:p>
            <a:pPr>
              <a:spcAft>
                <a:spcPts val="600"/>
              </a:spcAft>
              <a:defRPr sz="1250">
                <a:solidFill>
                  <a:srgbClr val="0F172A"/>
                </a:solidFill>
              </a:defRPr>
            </a:pPr>
            <a:r>
              <a:t>2. • 強化中下斜方肌與菱形肌力量</a:t>
            </a:r>
          </a:p>
          <a:p>
            <a:pPr>
              <a:spcAft>
                <a:spcPts val="600"/>
              </a:spcAft>
              <a:defRPr sz="1250">
                <a:solidFill>
                  <a:srgbClr val="0F172A"/>
                </a:solidFill>
              </a:defRPr>
            </a:pPr>
            <a:r>
              <a:t>3. • 逆轉頭部前傾與圓肩駝背體態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晝夜節律與修復系統  |  第 020 講  ｜  版型 7：比較論法 (Comparison)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26 / 26</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① 主張：午睡黃金時長為 15–20 分鐘，既能及時清除大腦腺苷疲勞受體，又可徹底避開深睡眠慣性引發的昏沉</a:t>
            </a:r>
          </a:p>
          <a:p>
            <a:pPr>
              <a:defRPr sz="1250">
                <a:solidFill>
                  <a:srgbClr val="64748B"/>
                </a:solidFill>
              </a:defRPr>
            </a:pPr>
            <a:r>
              <a:t>剖析 20 分鐘微午睡與 &gt;45 分鐘過度長睡的生理機制作息對照</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Source: American College of Cardiology 2019 &amp; Sleep Medicine ｜ 馮雪·家庭健康管理100講 第020講</a:t>
            </a:r>
          </a:p>
        </p:txBody>
      </p:sp>
      <p:sp>
        <p:nvSpPr>
          <p:cNvPr id="7" name="Rounded Rectangle 6"/>
          <p:cNvSpPr/>
          <p:nvPr/>
        </p:nvSpPr>
        <p:spPr>
          <a:xfrm>
            <a:off x="731520" y="1965960"/>
            <a:ext cx="3474720" cy="4114800"/>
          </a:xfrm>
          <a:prstGeom prst="roundRect">
            <a:avLst/>
          </a:prstGeom>
          <a:solidFill>
            <a:srgbClr val="F8FAFC"/>
          </a:solidFill>
          <a:ln w="1905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1965960"/>
            <a:ext cx="3474720" cy="411480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965960"/>
            <a:ext cx="347472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48840"/>
            <a:ext cx="3108960" cy="3749039"/>
          </a:xfrm>
          <a:prstGeom prst="rect">
            <a:avLst/>
          </a:prstGeom>
          <a:noFill/>
        </p:spPr>
        <p:txBody>
          <a:bodyPr wrap="square">
            <a:spAutoFit/>
          </a:bodyPr>
          <a:lstStyle/>
          <a:p>
            <a:pPr>
              <a:spcAft>
                <a:spcPts val="1200"/>
              </a:spcAft>
              <a:defRPr sz="1450" b="1">
                <a:solidFill>
                  <a:srgbClr val="051C2C"/>
                </a:solidFill>
              </a:defRPr>
            </a:pPr>
            <a:r>
              <a:t>15–20 分鐘黃金微午睡（高效） ★</a:t>
            </a:r>
          </a:p>
          <a:p>
            <a:pPr>
              <a:spcAft>
                <a:spcPts val="800"/>
              </a:spcAft>
              <a:defRPr sz="1250">
                <a:solidFill>
                  <a:srgbClr val="1F2937"/>
                </a:solidFill>
              </a:defRPr>
            </a:pPr>
            <a:r>
              <a:t>• • 停留於 NREM 1–2 期淺慢波睡眠</a:t>
            </a:r>
          </a:p>
          <a:p>
            <a:pPr>
              <a:spcAft>
                <a:spcPts val="800"/>
              </a:spcAft>
              <a:defRPr sz="1250">
                <a:solidFill>
                  <a:srgbClr val="1F2937"/>
                </a:solidFill>
              </a:defRPr>
            </a:pPr>
            <a:r>
              <a:t>• • 迅速降解大腦皮層積累的腺苷疲勞物質</a:t>
            </a:r>
          </a:p>
          <a:p>
            <a:pPr>
              <a:spcAft>
                <a:spcPts val="800"/>
              </a:spcAft>
              <a:defRPr sz="1250">
                <a:solidFill>
                  <a:srgbClr val="1F2937"/>
                </a:solidFill>
              </a:defRPr>
            </a:pPr>
            <a:r>
              <a:t>• • 醒後無延遲感，即刻恢復專注力與警覺度</a:t>
            </a:r>
          </a:p>
          <a:p>
            <a:pPr>
              <a:spcAft>
                <a:spcPts val="800"/>
              </a:spcAft>
              <a:defRPr sz="1250">
                <a:solidFill>
                  <a:srgbClr val="1F2937"/>
                </a:solidFill>
              </a:defRPr>
            </a:pPr>
            <a:r>
              <a:t>• • 降血壓 5mmHg，延緩大腦衰老 2.6–6.5 年</a:t>
            </a:r>
          </a:p>
        </p:txBody>
      </p:sp>
      <p:sp>
        <p:nvSpPr>
          <p:cNvPr id="11" name="TextBox 10"/>
          <p:cNvSpPr txBox="1"/>
          <p:nvPr/>
        </p:nvSpPr>
        <p:spPr>
          <a:xfrm>
            <a:off x="4526280" y="2148840"/>
            <a:ext cx="3108960" cy="3749039"/>
          </a:xfrm>
          <a:prstGeom prst="rect">
            <a:avLst/>
          </a:prstGeom>
          <a:noFill/>
        </p:spPr>
        <p:txBody>
          <a:bodyPr wrap="square">
            <a:spAutoFit/>
          </a:bodyPr>
          <a:lstStyle/>
          <a:p>
            <a:pPr>
              <a:spcAft>
                <a:spcPts val="1200"/>
              </a:spcAft>
              <a:defRPr sz="1450" b="1">
                <a:solidFill>
                  <a:srgbClr val="D97706"/>
                </a:solidFill>
              </a:defRPr>
            </a:pPr>
            <a:r>
              <a:t>核心共通依據：日間心血管與免疫神經系統微修復</a:t>
            </a:r>
          </a:p>
          <a:p>
            <a:pPr>
              <a:spcAft>
                <a:spcPts val="800"/>
              </a:spcAft>
              <a:defRPr sz="1250">
                <a:solidFill>
                  <a:srgbClr val="1F2937"/>
                </a:solidFill>
              </a:defRPr>
            </a:pPr>
            <a:r>
              <a:t>• 【共同價值】：提供眼球睫狀肌休息，短暫降低交感神經負荷</a:t>
            </a:r>
          </a:p>
          <a:p>
            <a:pPr>
              <a:spcAft>
                <a:spcPts val="800"/>
              </a:spcAft>
              <a:defRPr sz="1250">
                <a:solidFill>
                  <a:srgbClr val="1F2937"/>
                </a:solidFill>
              </a:defRPr>
            </a:pPr>
            <a:r>
              <a:t>• 【敏感窗口】：必須在 12:30–13:30 間執行，3 點後禁用</a:t>
            </a:r>
          </a:p>
        </p:txBody>
      </p:sp>
      <p:sp>
        <p:nvSpPr>
          <p:cNvPr id="12" name="TextBox 11"/>
          <p:cNvSpPr txBox="1"/>
          <p:nvPr/>
        </p:nvSpPr>
        <p:spPr>
          <a:xfrm>
            <a:off x="8138159" y="2148840"/>
            <a:ext cx="3108960" cy="3749039"/>
          </a:xfrm>
          <a:prstGeom prst="rect">
            <a:avLst/>
          </a:prstGeom>
          <a:noFill/>
        </p:spPr>
        <p:txBody>
          <a:bodyPr wrap="square">
            <a:spAutoFit/>
          </a:bodyPr>
          <a:lstStyle/>
          <a:p>
            <a:pPr>
              <a:spcAft>
                <a:spcPts val="1200"/>
              </a:spcAft>
              <a:defRPr sz="1450" b="1">
                <a:solidFill>
                  <a:srgbClr val="1E3A8A"/>
                </a:solidFill>
              </a:defRPr>
            </a:pPr>
            <a:r>
              <a:t>&gt;45–60 分鐘過度沉睡（反噬）</a:t>
            </a:r>
          </a:p>
          <a:p>
            <a:pPr>
              <a:spcAft>
                <a:spcPts val="800"/>
              </a:spcAft>
              <a:defRPr sz="1250">
                <a:solidFill>
                  <a:srgbClr val="1F2937"/>
                </a:solidFill>
              </a:defRPr>
            </a:pPr>
            <a:r>
              <a:t>• • 跌入 NREM 3–4 期深睡眠慢波狀態</a:t>
            </a:r>
          </a:p>
          <a:p>
            <a:pPr>
              <a:spcAft>
                <a:spcPts val="800"/>
              </a:spcAft>
              <a:defRPr sz="1250">
                <a:solidFill>
                  <a:srgbClr val="1F2937"/>
                </a:solidFill>
              </a:defRPr>
            </a:pPr>
            <a:r>
              <a:t>• • 強制喚醒引發嚴重「睡眠慣性 (Sleep Inertia)」</a:t>
            </a:r>
          </a:p>
          <a:p>
            <a:pPr>
              <a:spcAft>
                <a:spcPts val="800"/>
              </a:spcAft>
              <a:defRPr sz="1250">
                <a:solidFill>
                  <a:srgbClr val="1F2937"/>
                </a:solidFill>
              </a:defRPr>
            </a:pPr>
            <a:r>
              <a:t>• • 醒後前額葉血流遲滯，頭暈昏睡達 30–60 分鐘</a:t>
            </a:r>
          </a:p>
          <a:p>
            <a:pPr>
              <a:spcAft>
                <a:spcPts val="800"/>
              </a:spcAft>
              <a:defRPr sz="1250">
                <a:solidFill>
                  <a:srgbClr val="1F2937"/>
                </a:solidFill>
              </a:defRPr>
            </a:pPr>
            <a:r>
              <a:t>• • 嚴重破壞夜間睡眠驅動力，誘發晚間入睡困難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